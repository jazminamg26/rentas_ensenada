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9"/>
  </p:notesMasterIdLst>
  <p:sldIdLst>
    <p:sldId id="256" r:id="rId2"/>
    <p:sldId id="311" r:id="rId3"/>
    <p:sldId id="314" r:id="rId4"/>
    <p:sldId id="310" r:id="rId5"/>
    <p:sldId id="332" r:id="rId6"/>
    <p:sldId id="312" r:id="rId7"/>
    <p:sldId id="305" r:id="rId8"/>
    <p:sldId id="315" r:id="rId9"/>
    <p:sldId id="317" r:id="rId10"/>
    <p:sldId id="318" r:id="rId11"/>
    <p:sldId id="316" r:id="rId12"/>
    <p:sldId id="319" r:id="rId13"/>
    <p:sldId id="324" r:id="rId14"/>
    <p:sldId id="328" r:id="rId15"/>
    <p:sldId id="329" r:id="rId16"/>
    <p:sldId id="326" r:id="rId17"/>
    <p:sldId id="327" r:id="rId18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20"/>
    </p:embeddedFont>
    <p:embeddedFont>
      <p:font typeface="Mulish" panose="020B0604020202020204" charset="0"/>
      <p:regular r:id="rId21"/>
      <p:bold r:id="rId22"/>
      <p:italic r:id="rId23"/>
      <p:boldItalic r:id="rId24"/>
    </p:embeddedFont>
    <p:embeddedFont>
      <p:font typeface="Quicksand" panose="020B0604020202020204" charset="0"/>
      <p:regular r:id="rId25"/>
      <p:bold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CE06E82-C80B-49C2-8ACA-DEEA3BA7CF74}">
  <a:tblStyle styleId="{ACE06E82-C80B-49C2-8ACA-DEEA3BA7CF7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CEE969A2-E4FD-5341-7AC7-605B3EB66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>
            <a:extLst>
              <a:ext uri="{FF2B5EF4-FFF2-40B4-BE49-F238E27FC236}">
                <a16:creationId xmlns:a16="http://schemas.microsoft.com/office/drawing/2014/main" id="{E4418CBF-A0AA-FD65-88DE-DFC9B45BCD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>
            <a:extLst>
              <a:ext uri="{FF2B5EF4-FFF2-40B4-BE49-F238E27FC236}">
                <a16:creationId xmlns:a16="http://schemas.microsoft.com/office/drawing/2014/main" id="{8D0E2B53-BD49-5762-1E24-B70C8C5F4B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8624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0018EE0B-3EE7-6310-3123-3BAE398F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>
            <a:extLst>
              <a:ext uri="{FF2B5EF4-FFF2-40B4-BE49-F238E27FC236}">
                <a16:creationId xmlns:a16="http://schemas.microsoft.com/office/drawing/2014/main" id="{D9B28B9E-1F65-5DFD-A8AF-55FF370E0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>
            <a:extLst>
              <a:ext uri="{FF2B5EF4-FFF2-40B4-BE49-F238E27FC236}">
                <a16:creationId xmlns:a16="http://schemas.microsoft.com/office/drawing/2014/main" id="{6F1EABF8-36A7-D8C1-A030-9AA75FB30C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219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9202011A-622A-D9B6-DA69-9BF52C029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>
            <a:extLst>
              <a:ext uri="{FF2B5EF4-FFF2-40B4-BE49-F238E27FC236}">
                <a16:creationId xmlns:a16="http://schemas.microsoft.com/office/drawing/2014/main" id="{86402BEA-1A12-3A8B-C2C4-C381C302D4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>
            <a:extLst>
              <a:ext uri="{FF2B5EF4-FFF2-40B4-BE49-F238E27FC236}">
                <a16:creationId xmlns:a16="http://schemas.microsoft.com/office/drawing/2014/main" id="{68F91F3B-EAB0-01AC-F626-815B916CF9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0360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>
          <a:extLst>
            <a:ext uri="{FF2B5EF4-FFF2-40B4-BE49-F238E27FC236}">
              <a16:creationId xmlns:a16="http://schemas.microsoft.com/office/drawing/2014/main" id="{25F3E9FC-B0A6-3B5E-7C5D-0AD7AB59A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33f6155f6d_0_69:notes">
            <a:extLst>
              <a:ext uri="{FF2B5EF4-FFF2-40B4-BE49-F238E27FC236}">
                <a16:creationId xmlns:a16="http://schemas.microsoft.com/office/drawing/2014/main" id="{AB5D89CC-7DAC-218E-F740-CD3B6D762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33f6155f6d_0_69:notes">
            <a:extLst>
              <a:ext uri="{FF2B5EF4-FFF2-40B4-BE49-F238E27FC236}">
                <a16:creationId xmlns:a16="http://schemas.microsoft.com/office/drawing/2014/main" id="{8B5FE024-ABB0-7B0C-FC06-3DCC10284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4068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F35F38C2-E45C-4216-80A3-066AE4F3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58413493-DAB2-0BF8-6909-1A8253896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A662485E-7FE1-F1DA-BDF1-5B45095C09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47832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>
          <a:extLst>
            <a:ext uri="{FF2B5EF4-FFF2-40B4-BE49-F238E27FC236}">
              <a16:creationId xmlns:a16="http://schemas.microsoft.com/office/drawing/2014/main" id="{86BC8394-A41E-CB06-408F-D1BA5E1DE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>
            <a:extLst>
              <a:ext uri="{FF2B5EF4-FFF2-40B4-BE49-F238E27FC236}">
                <a16:creationId xmlns:a16="http://schemas.microsoft.com/office/drawing/2014/main" id="{C281D52F-D066-5E9C-4CD5-E69ED5B790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61ca7da69_2_7:notes">
            <a:extLst>
              <a:ext uri="{FF2B5EF4-FFF2-40B4-BE49-F238E27FC236}">
                <a16:creationId xmlns:a16="http://schemas.microsoft.com/office/drawing/2014/main" id="{8A819C95-836A-1DC4-69E7-7882FF048F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7549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1" name="Google Shape;51;p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2" name="Google Shape;52;p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3" name="Google Shape;53;p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54" name="Google Shape;54;p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56" name="Google Shape;56;p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57" name="Google Shape;5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5" name="Google Shape;145;p16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6" name="Google Shape;146;p16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7" name="Google Shape;147;p16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49" name="Google Shape;149;p16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150" name="Google Shape;150;p16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51" name="Google Shape;151;p16"/>
          <p:cNvSpPr txBox="1">
            <a:spLocks noGrp="1"/>
          </p:cNvSpPr>
          <p:nvPr>
            <p:ph type="title"/>
          </p:nvPr>
        </p:nvSpPr>
        <p:spPr>
          <a:xfrm>
            <a:off x="720000" y="1568400"/>
            <a:ext cx="2891400" cy="70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720000" y="2268888"/>
            <a:ext cx="2891400" cy="13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" name="Google Shape;185;p19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6" name="Google Shape;186;p19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7" name="Google Shape;187;p19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88" name="Google Shape;188;p19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89" name="Google Shape;189;p19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190" name="Google Shape;190;p19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91" name="Google Shape;191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subTitle" idx="1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subTitle" idx="2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subTitle" idx="3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subTitle" idx="5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subTitle" idx="6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600"/>
              <a:buFont typeface="Bebas Neue"/>
              <a:buNone/>
              <a:defRPr sz="26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8" r:id="rId5"/>
    <p:sldLayoutId id="2147483662" r:id="rId6"/>
    <p:sldLayoutId id="2147483665" r:id="rId7"/>
    <p:sldLayoutId id="2147483670" r:id="rId8"/>
    <p:sldLayoutId id="2147483671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700" dirty="0"/>
              <a:t>API </a:t>
            </a:r>
            <a:br>
              <a:rPr lang="en" sz="6700" dirty="0"/>
            </a:br>
            <a:r>
              <a:rPr lang="en" sz="5400" dirty="0">
                <a:solidFill>
                  <a:schemeClr val="dk2"/>
                </a:solidFill>
              </a:rPr>
              <a:t>Rentas Ensenada</a:t>
            </a:r>
            <a:endParaRPr sz="5900" dirty="0">
              <a:solidFill>
                <a:schemeClr val="dk2"/>
              </a:solidFill>
            </a:endParaRPr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0600" y="2544888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00" y="1348663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89" name="Google Shape;289;p29"/>
          <p:cNvSpPr/>
          <p:nvPr/>
        </p:nvSpPr>
        <p:spPr>
          <a:xfrm>
            <a:off x="2422825" y="186552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6733600" y="186552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Recursos y endpoints</a:t>
            </a:r>
            <a:endParaRPr sz="3600" dirty="0"/>
          </a:p>
        </p:txBody>
      </p:sp>
      <p:sp>
        <p:nvSpPr>
          <p:cNvPr id="330" name="Google Shape;330;p32"/>
          <p:cNvSpPr txBox="1">
            <a:spLocks noGrp="1"/>
          </p:cNvSpPr>
          <p:nvPr>
            <p:ph type="subTitle" idx="1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/>
              <a:t>Rentas y arrendatarios</a:t>
            </a:r>
            <a:endParaRPr dirty="0"/>
          </a:p>
        </p:txBody>
      </p:sp>
      <p:sp>
        <p:nvSpPr>
          <p:cNvPr id="331" name="Google Shape;331;p32"/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cxnSp>
        <p:nvCxnSpPr>
          <p:cNvPr id="333" name="Google Shape;333;p32"/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/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/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EE935A73-2B54-F14A-D0A8-FB1E9E8A8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>
            <a:extLst>
              <a:ext uri="{FF2B5EF4-FFF2-40B4-BE49-F238E27FC236}">
                <a16:creationId xmlns:a16="http://schemas.microsoft.com/office/drawing/2014/main" id="{411B5601-88DB-3A82-7CFD-B3943B997F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arrendatarios</a:t>
            </a:r>
            <a:endParaRPr dirty="0"/>
          </a:p>
        </p:txBody>
      </p:sp>
      <p:sp>
        <p:nvSpPr>
          <p:cNvPr id="448" name="Google Shape;448;p41">
            <a:extLst>
              <a:ext uri="{FF2B5EF4-FFF2-40B4-BE49-F238E27FC236}">
                <a16:creationId xmlns:a16="http://schemas.microsoft.com/office/drawing/2014/main" id="{4C02C374-9D9D-88BE-EE04-81E738E8300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80593" y="2972774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Para evitar eliminar arrendatarios tenemos el campo “activo”</a:t>
            </a:r>
          </a:p>
        </p:txBody>
      </p:sp>
      <p:sp>
        <p:nvSpPr>
          <p:cNvPr id="451" name="Google Shape;451;p41">
            <a:extLst>
              <a:ext uri="{FF2B5EF4-FFF2-40B4-BE49-F238E27FC236}">
                <a16:creationId xmlns:a16="http://schemas.microsoft.com/office/drawing/2014/main" id="{2DD7B389-D9C7-CEA2-59EB-EAF1D2A45FC3}"/>
              </a:ext>
            </a:extLst>
          </p:cNvPr>
          <p:cNvSpPr/>
          <p:nvPr/>
        </p:nvSpPr>
        <p:spPr>
          <a:xfrm>
            <a:off x="618968" y="2595211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b</a:t>
            </a:r>
            <a:endParaRPr sz="21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4" name="Google Shape;454;p41">
            <a:extLst>
              <a:ext uri="{FF2B5EF4-FFF2-40B4-BE49-F238E27FC236}">
                <a16:creationId xmlns:a16="http://schemas.microsoft.com/office/drawing/2014/main" id="{6E9A384F-6441-6138-471A-A75774EBE06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280593" y="2660774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s-MX" dirty="0"/>
              <a:t>Actualizar un arrendatario </a:t>
            </a:r>
            <a:r>
              <a:rPr lang="es-MX" dirty="0">
                <a:solidFill>
                  <a:schemeClr val="bg1">
                    <a:lumMod val="25000"/>
                  </a:schemeClr>
                </a:solidFill>
                <a:latin typeface="Quicksand" panose="020B0604020202020204" charset="0"/>
              </a:rPr>
              <a:t>–</a:t>
            </a:r>
            <a:r>
              <a:rPr lang="es-MX" dirty="0">
                <a:solidFill>
                  <a:schemeClr val="bg2"/>
                </a:solidFill>
                <a:latin typeface="Quicksand" panose="020B0604020202020204" charset="0"/>
              </a:rPr>
              <a:t> 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PATCH /arrendatarios/{id}</a:t>
            </a: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D6E7EF08-4446-9F76-A32F-66CC5B33B59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97139A4-B115-BA72-987A-B496C9AA61B0}"/>
              </a:ext>
            </a:extLst>
          </p:cNvPr>
          <p:cNvGrpSpPr/>
          <p:nvPr/>
        </p:nvGrpSpPr>
        <p:grpSpPr>
          <a:xfrm>
            <a:off x="618968" y="1441373"/>
            <a:ext cx="7704126" cy="429000"/>
            <a:chOff x="719999" y="3482057"/>
            <a:chExt cx="7704126" cy="429000"/>
          </a:xfrm>
        </p:grpSpPr>
        <p:sp>
          <p:nvSpPr>
            <p:cNvPr id="8" name="Google Shape;453;p41">
              <a:extLst>
                <a:ext uri="{FF2B5EF4-FFF2-40B4-BE49-F238E27FC236}">
                  <a16:creationId xmlns:a16="http://schemas.microsoft.com/office/drawing/2014/main" id="{77ABF726-9490-15B6-1711-D80905FBFC67}"/>
                </a:ext>
              </a:extLst>
            </p:cNvPr>
            <p:cNvSpPr/>
            <p:nvPr/>
          </p:nvSpPr>
          <p:spPr>
            <a:xfrm>
              <a:off x="719999" y="3482057"/>
              <a:ext cx="429000" cy="4290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 dirty="0">
                  <a:solidFill>
                    <a:schemeClr val="dk2"/>
                  </a:solidFill>
                  <a:latin typeface="Quicksand"/>
                  <a:ea typeface="Quicksand"/>
                  <a:cs typeface="Quicksand"/>
                  <a:sym typeface="Quicksand"/>
                </a:rPr>
                <a:t>a</a:t>
              </a:r>
              <a:endParaRPr sz="21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" name="Google Shape;456;p41">
              <a:extLst>
                <a:ext uri="{FF2B5EF4-FFF2-40B4-BE49-F238E27FC236}">
                  <a16:creationId xmlns:a16="http://schemas.microsoft.com/office/drawing/2014/main" id="{A2486DE3-85CB-008D-BD25-A5E8B4238109}"/>
                </a:ext>
              </a:extLst>
            </p:cNvPr>
            <p:cNvSpPr txBox="1">
              <a:spLocks/>
            </p:cNvSpPr>
            <p:nvPr/>
          </p:nvSpPr>
          <p:spPr>
            <a:xfrm>
              <a:off x="1381625" y="3511896"/>
              <a:ext cx="7042500" cy="333600"/>
            </a:xfrm>
            <a:prstGeom prst="rect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Bebas Neue"/>
                <a:buNone/>
                <a:defRPr sz="2000" b="1" i="0" u="none" strike="noStrike" cap="none">
                  <a:solidFill>
                    <a:schemeClr val="dk2"/>
                  </a:solidFill>
                  <a:latin typeface="Quicksand"/>
                  <a:ea typeface="Quicksand"/>
                  <a:cs typeface="Quicksand"/>
                  <a:sym typeface="Quicksand"/>
                </a:defRPr>
              </a:lvl1pPr>
              <a:lvl2pPr marL="914400" marR="0" lvl="1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Bebas Neue"/>
                <a:buNone/>
                <a:defRPr sz="26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2pPr>
              <a:lvl3pPr marL="1371600" marR="0" lvl="2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Bebas Neue"/>
                <a:buNone/>
                <a:defRPr sz="26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3pPr>
              <a:lvl4pPr marL="1828800" marR="0" lvl="3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Bebas Neue"/>
                <a:buNone/>
                <a:defRPr sz="26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4pPr>
              <a:lvl5pPr marL="2286000" marR="0" lvl="4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Bebas Neue"/>
                <a:buNone/>
                <a:defRPr sz="26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5pPr>
              <a:lvl6pPr marL="2743200" marR="0" lvl="5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Bebas Neue"/>
                <a:buNone/>
                <a:defRPr sz="26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6pPr>
              <a:lvl7pPr marL="3200400" marR="0" lvl="6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Bebas Neue"/>
                <a:buNone/>
                <a:defRPr sz="26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7pPr>
              <a:lvl8pPr marL="3657600" marR="0" lvl="7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0"/>
                </a:spcAft>
                <a:buClr>
                  <a:schemeClr val="dk1"/>
                </a:buClr>
                <a:buSzPts val="2600"/>
                <a:buFont typeface="Bebas Neue"/>
                <a:buNone/>
                <a:defRPr sz="26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8pPr>
              <a:lvl9pPr marL="4114800" marR="0" lvl="8" indent="-317500" algn="l" rtl="0">
                <a:lnSpc>
                  <a:spcPct val="100000"/>
                </a:lnSpc>
                <a:spcBef>
                  <a:spcPts val="1600"/>
                </a:spcBef>
                <a:spcAft>
                  <a:spcPts val="1600"/>
                </a:spcAft>
                <a:buClr>
                  <a:schemeClr val="dk1"/>
                </a:buClr>
                <a:buSzPts val="2600"/>
                <a:buFont typeface="Bebas Neue"/>
                <a:buNone/>
                <a:defRPr sz="2600" b="0" i="0" u="none" strike="noStrike" cap="none">
                  <a:solidFill>
                    <a:schemeClr val="dk1"/>
                  </a:solidFill>
                  <a:latin typeface="Bebas Neue"/>
                  <a:ea typeface="Bebas Neue"/>
                  <a:cs typeface="Bebas Neue"/>
                  <a:sym typeface="Bebas Neue"/>
                </a:defRPr>
              </a:lvl9pPr>
            </a:lstStyle>
            <a:p>
              <a:pPr marL="0" indent="0"/>
              <a:r>
                <a:rPr lang="es-MX"/>
                <a:t>Crear un arrendatario </a:t>
              </a:r>
              <a:r>
                <a:rPr lang="es-MX">
                  <a:solidFill>
                    <a:schemeClr val="bg1">
                      <a:lumMod val="25000"/>
                    </a:schemeClr>
                  </a:solidFill>
                  <a:latin typeface="Quicksand" panose="020B0604020202020204" charset="0"/>
                </a:rPr>
                <a:t>–</a:t>
              </a:r>
              <a:r>
                <a:rPr lang="es-MX">
                  <a:solidFill>
                    <a:schemeClr val="bg2"/>
                  </a:solidFill>
                  <a:latin typeface="Quicksand" panose="020B0604020202020204" charset="0"/>
                </a:rPr>
                <a:t> </a:t>
              </a:r>
              <a:r>
                <a:rPr lang="es-MX">
                  <a:solidFill>
                    <a:schemeClr val="accent1">
                      <a:lumMod val="75000"/>
                    </a:schemeClr>
                  </a:solidFill>
                </a:rPr>
                <a:t>POST /arrendatarios</a:t>
              </a:r>
              <a:endParaRPr lang="es-MX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265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0DA27E82-796E-EFF2-4A23-4062E742E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>
            <a:extLst>
              <a:ext uri="{FF2B5EF4-FFF2-40B4-BE49-F238E27FC236}">
                <a16:creationId xmlns:a16="http://schemas.microsoft.com/office/drawing/2014/main" id="{09313093-5CE7-02D7-AAE6-C3950F96A6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rentas</a:t>
            </a:r>
            <a:endParaRPr dirty="0"/>
          </a:p>
        </p:txBody>
      </p:sp>
      <p:sp>
        <p:nvSpPr>
          <p:cNvPr id="448" name="Google Shape;448;p41">
            <a:extLst>
              <a:ext uri="{FF2B5EF4-FFF2-40B4-BE49-F238E27FC236}">
                <a16:creationId xmlns:a16="http://schemas.microsoft.com/office/drawing/2014/main" id="{6B16E34C-9718-2005-524D-943146A418F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81625" y="1718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Devuelve una lista con todas las rentas de arrendatarios activos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Se le pueden agregar filtros con parámetros en la URL</a:t>
            </a:r>
          </a:p>
        </p:txBody>
      </p:sp>
      <p:sp>
        <p:nvSpPr>
          <p:cNvPr id="449" name="Google Shape;449;p41">
            <a:extLst>
              <a:ext uri="{FF2B5EF4-FFF2-40B4-BE49-F238E27FC236}">
                <a16:creationId xmlns:a16="http://schemas.microsoft.com/office/drawing/2014/main" id="{84ECC7F5-573E-2D58-87EE-7D80CAD525B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81635" y="2861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Devuelve toda la información de esa renta incluyendo </a:t>
            </a:r>
            <a:r>
              <a:rPr lang="es-MX" b="1" dirty="0"/>
              <a:t>datos del arrendatario </a:t>
            </a:r>
            <a:r>
              <a:rPr lang="es-MX" dirty="0"/>
              <a:t>y su </a:t>
            </a:r>
            <a:r>
              <a:rPr lang="es-MX" b="1" dirty="0"/>
              <a:t>historial de renta</a:t>
            </a:r>
          </a:p>
        </p:txBody>
      </p:sp>
      <p:sp>
        <p:nvSpPr>
          <p:cNvPr id="450" name="Google Shape;450;p41">
            <a:extLst>
              <a:ext uri="{FF2B5EF4-FFF2-40B4-BE49-F238E27FC236}">
                <a16:creationId xmlns:a16="http://schemas.microsoft.com/office/drawing/2014/main" id="{0D096EC8-C470-F2B4-83B5-CDC10709210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381635" y="4004025"/>
            <a:ext cx="70425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Se envía un JSON con los datos de la nueva renta</a:t>
            </a:r>
          </a:p>
        </p:txBody>
      </p:sp>
      <p:sp>
        <p:nvSpPr>
          <p:cNvPr id="451" name="Google Shape;451;p41">
            <a:extLst>
              <a:ext uri="{FF2B5EF4-FFF2-40B4-BE49-F238E27FC236}">
                <a16:creationId xmlns:a16="http://schemas.microsoft.com/office/drawing/2014/main" id="{C3325D16-BB38-D85F-363E-BB49886EBCDE}"/>
              </a:ext>
            </a:extLst>
          </p:cNvPr>
          <p:cNvSpPr/>
          <p:nvPr/>
        </p:nvSpPr>
        <p:spPr>
          <a:xfrm>
            <a:off x="720000" y="1340462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endParaRPr sz="21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2" name="Google Shape;452;p41">
            <a:extLst>
              <a:ext uri="{FF2B5EF4-FFF2-40B4-BE49-F238E27FC236}">
                <a16:creationId xmlns:a16="http://schemas.microsoft.com/office/drawing/2014/main" id="{ADF86D74-4F30-D192-500A-FFA2942DFCC4}"/>
              </a:ext>
            </a:extLst>
          </p:cNvPr>
          <p:cNvSpPr/>
          <p:nvPr/>
        </p:nvSpPr>
        <p:spPr>
          <a:xfrm>
            <a:off x="720001" y="2478864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b</a:t>
            </a:r>
            <a:endParaRPr sz="21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3" name="Google Shape;453;p41">
            <a:extLst>
              <a:ext uri="{FF2B5EF4-FFF2-40B4-BE49-F238E27FC236}">
                <a16:creationId xmlns:a16="http://schemas.microsoft.com/office/drawing/2014/main" id="{64890F3C-7328-E1BB-FB00-E8C7E5089055}"/>
              </a:ext>
            </a:extLst>
          </p:cNvPr>
          <p:cNvSpPr/>
          <p:nvPr/>
        </p:nvSpPr>
        <p:spPr>
          <a:xfrm>
            <a:off x="719999" y="3617286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c</a:t>
            </a:r>
            <a:endParaRPr sz="21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4" name="Google Shape;454;p41">
            <a:extLst>
              <a:ext uri="{FF2B5EF4-FFF2-40B4-BE49-F238E27FC236}">
                <a16:creationId xmlns:a16="http://schemas.microsoft.com/office/drawing/2014/main" id="{6D31363D-E12E-F9D7-84C0-DFF20C8B4894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s-MX" dirty="0">
                <a:solidFill>
                  <a:schemeClr val="bg2"/>
                </a:solidFill>
                <a:latin typeface="Quicksand" panose="020B0604020202020204" charset="0"/>
              </a:rPr>
              <a:t>Obtener las rentas </a:t>
            </a:r>
            <a:r>
              <a:rPr lang="es-MX" dirty="0">
                <a:solidFill>
                  <a:schemeClr val="bg1">
                    <a:lumMod val="25000"/>
                  </a:schemeClr>
                </a:solidFill>
                <a:latin typeface="Quicksand" panose="020B0604020202020204" charset="0"/>
              </a:rPr>
              <a:t>-</a:t>
            </a:r>
            <a:r>
              <a:rPr lang="es-MX" dirty="0">
                <a:solidFill>
                  <a:schemeClr val="bg2"/>
                </a:solidFill>
                <a:latin typeface="Quicksand" panose="020B0604020202020204" charset="0"/>
              </a:rPr>
              <a:t> 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GET/rentas</a:t>
            </a:r>
          </a:p>
        </p:txBody>
      </p:sp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BB1E40E7-3018-3657-5EE5-F245BB37DA99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381625" y="252657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s-MX" sz="1700" dirty="0">
                <a:solidFill>
                  <a:schemeClr val="bg2"/>
                </a:solidFill>
                <a:latin typeface="Quicksand" panose="020B0604020202020204" charset="0"/>
              </a:rPr>
              <a:t>Obtener los detalles de una renta específica </a:t>
            </a:r>
            <a:r>
              <a:rPr lang="es-MX" sz="1700" dirty="0">
                <a:solidFill>
                  <a:schemeClr val="bg1">
                    <a:lumMod val="25000"/>
                  </a:schemeClr>
                </a:solidFill>
                <a:latin typeface="Quicksand" panose="020B0604020202020204" charset="0"/>
              </a:rPr>
              <a:t>-</a:t>
            </a:r>
            <a:r>
              <a:rPr lang="es-MX" sz="1700" dirty="0">
                <a:solidFill>
                  <a:schemeClr val="bg2"/>
                </a:solidFill>
                <a:latin typeface="Quicksand" panose="020B0604020202020204" charset="0"/>
              </a:rPr>
              <a:t> </a:t>
            </a:r>
            <a:r>
              <a:rPr lang="es-MX" sz="1700" dirty="0">
                <a:solidFill>
                  <a:schemeClr val="accent1">
                    <a:lumMod val="75000"/>
                  </a:schemeClr>
                </a:solidFill>
              </a:rPr>
              <a:t>GET/rentas/{id}</a:t>
            </a:r>
          </a:p>
        </p:txBody>
      </p:sp>
      <p:sp>
        <p:nvSpPr>
          <p:cNvPr id="456" name="Google Shape;456;p41">
            <a:extLst>
              <a:ext uri="{FF2B5EF4-FFF2-40B4-BE49-F238E27FC236}">
                <a16:creationId xmlns:a16="http://schemas.microsoft.com/office/drawing/2014/main" id="{BBF6079D-5F50-7050-8D4D-8B78689AD70D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381625" y="364712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s-MX" dirty="0">
                <a:solidFill>
                  <a:schemeClr val="bg2"/>
                </a:solidFill>
                <a:latin typeface="Quicksand" panose="020B0604020202020204" charset="0"/>
              </a:rPr>
              <a:t>Crear una nueva renta </a:t>
            </a:r>
            <a:r>
              <a:rPr lang="es-MX" dirty="0">
                <a:solidFill>
                  <a:schemeClr val="bg1">
                    <a:lumMod val="25000"/>
                  </a:schemeClr>
                </a:solidFill>
                <a:latin typeface="Quicksand" panose="020B0604020202020204" charset="0"/>
              </a:rPr>
              <a:t>-</a:t>
            </a:r>
            <a:r>
              <a:rPr lang="es-MX" dirty="0">
                <a:solidFill>
                  <a:schemeClr val="bg2"/>
                </a:solidFill>
                <a:latin typeface="Quicksand" panose="020B0604020202020204" charset="0"/>
              </a:rPr>
              <a:t> 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POST /rentas</a:t>
            </a: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C56305DF-8860-FB46-6FF0-7A2AA8B49D7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" name="Google Shape;463;p42">
            <a:extLst>
              <a:ext uri="{FF2B5EF4-FFF2-40B4-BE49-F238E27FC236}">
                <a16:creationId xmlns:a16="http://schemas.microsoft.com/office/drawing/2014/main" id="{64F7B254-325D-112B-3193-A7DF17C74D7D}"/>
              </a:ext>
            </a:extLst>
          </p:cNvPr>
          <p:cNvSpPr txBox="1">
            <a:spLocks/>
          </p:cNvSpPr>
          <p:nvPr/>
        </p:nvSpPr>
        <p:spPr>
          <a:xfrm>
            <a:off x="2338132" y="486891"/>
            <a:ext cx="4758127" cy="68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Recurso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Contiene todas las propiedades en renta</a:t>
            </a:r>
          </a:p>
        </p:txBody>
      </p:sp>
    </p:spTree>
    <p:extLst>
      <p:ext uri="{BB962C8B-B14F-4D97-AF65-F5344CB8AC3E}">
        <p14:creationId xmlns:p14="http://schemas.microsoft.com/office/powerpoint/2010/main" val="1521063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6C2F75CF-4D0D-D72A-28E2-191DE35D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>
            <a:extLst>
              <a:ext uri="{FF2B5EF4-FFF2-40B4-BE49-F238E27FC236}">
                <a16:creationId xmlns:a16="http://schemas.microsoft.com/office/drawing/2014/main" id="{484BB175-EF19-E6EB-9291-D8A734CB08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historial</a:t>
            </a:r>
            <a:endParaRPr dirty="0"/>
          </a:p>
        </p:txBody>
      </p:sp>
      <p:sp>
        <p:nvSpPr>
          <p:cNvPr id="451" name="Google Shape;451;p41">
            <a:extLst>
              <a:ext uri="{FF2B5EF4-FFF2-40B4-BE49-F238E27FC236}">
                <a16:creationId xmlns:a16="http://schemas.microsoft.com/office/drawing/2014/main" id="{C00C9FBB-C617-03C4-5F8D-1ADEBC86A993}"/>
              </a:ext>
            </a:extLst>
          </p:cNvPr>
          <p:cNvSpPr/>
          <p:nvPr/>
        </p:nvSpPr>
        <p:spPr>
          <a:xfrm>
            <a:off x="771515" y="1586435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a</a:t>
            </a:r>
            <a:endParaRPr sz="21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2" name="Google Shape;452;p41">
            <a:extLst>
              <a:ext uri="{FF2B5EF4-FFF2-40B4-BE49-F238E27FC236}">
                <a16:creationId xmlns:a16="http://schemas.microsoft.com/office/drawing/2014/main" id="{6053D651-AE95-C077-58EE-CD90AFF01A64}"/>
              </a:ext>
            </a:extLst>
          </p:cNvPr>
          <p:cNvSpPr/>
          <p:nvPr/>
        </p:nvSpPr>
        <p:spPr>
          <a:xfrm>
            <a:off x="720000" y="3309416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b</a:t>
            </a:r>
            <a:endParaRPr sz="21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4" name="Google Shape;454;p41">
            <a:extLst>
              <a:ext uri="{FF2B5EF4-FFF2-40B4-BE49-F238E27FC236}">
                <a16:creationId xmlns:a16="http://schemas.microsoft.com/office/drawing/2014/main" id="{042E3005-A18F-4012-269E-638CB7AFF46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381625" y="1406024"/>
            <a:ext cx="7395327" cy="78982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s-MX" dirty="0"/>
              <a:t>Obtener el historial de todas las rentas </a:t>
            </a:r>
            <a:r>
              <a:rPr lang="es-MX" dirty="0">
                <a:solidFill>
                  <a:schemeClr val="bg1">
                    <a:lumMod val="25000"/>
                  </a:schemeClr>
                </a:solidFill>
                <a:latin typeface="Quicksand" panose="020B0604020202020204" charset="0"/>
              </a:rPr>
              <a:t>–</a:t>
            </a:r>
            <a:r>
              <a:rPr lang="es-MX" dirty="0">
                <a:solidFill>
                  <a:schemeClr val="bg2"/>
                </a:solidFill>
                <a:latin typeface="Quicksand" panose="020B0604020202020204" charset="0"/>
              </a:rPr>
              <a:t> 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GET /historial</a:t>
            </a:r>
          </a:p>
        </p:txBody>
      </p:sp>
      <p:sp>
        <p:nvSpPr>
          <p:cNvPr id="455" name="Google Shape;455;p41">
            <a:extLst>
              <a:ext uri="{FF2B5EF4-FFF2-40B4-BE49-F238E27FC236}">
                <a16:creationId xmlns:a16="http://schemas.microsoft.com/office/drawing/2014/main" id="{77C45902-3043-FB29-182F-C95E6C5F6446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381625" y="3089210"/>
            <a:ext cx="7395327" cy="86941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s-MX" dirty="0"/>
              <a:t>Obtener el historial de una renta</a:t>
            </a:r>
            <a:r>
              <a:rPr lang="es-MX" dirty="0">
                <a:solidFill>
                  <a:schemeClr val="bg1">
                    <a:lumMod val="25000"/>
                  </a:schemeClr>
                </a:solidFill>
                <a:latin typeface="Quicksand" panose="020B0604020202020204" charset="0"/>
              </a:rPr>
              <a:t>–</a:t>
            </a:r>
            <a:r>
              <a:rPr lang="es-MX" dirty="0">
                <a:solidFill>
                  <a:schemeClr val="bg2"/>
                </a:solidFill>
                <a:latin typeface="Quicksand" panose="020B0604020202020204" charset="0"/>
              </a:rPr>
              <a:t> 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GET /historial/{</a:t>
            </a:r>
            <a:r>
              <a:rPr lang="es-MX" dirty="0" err="1">
                <a:solidFill>
                  <a:schemeClr val="accent1">
                    <a:lumMod val="75000"/>
                  </a:schemeClr>
                </a:solidFill>
              </a:rPr>
              <a:t>renta.id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}</a:t>
            </a: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DF9348DF-D8BD-E8BC-5D36-FE8D5D49A7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" name="Google Shape;463;p42">
            <a:extLst>
              <a:ext uri="{FF2B5EF4-FFF2-40B4-BE49-F238E27FC236}">
                <a16:creationId xmlns:a16="http://schemas.microsoft.com/office/drawing/2014/main" id="{6A83FAE3-E43B-BFC9-001F-D7C97EFC4285}"/>
              </a:ext>
            </a:extLst>
          </p:cNvPr>
          <p:cNvSpPr txBox="1">
            <a:spLocks/>
          </p:cNvSpPr>
          <p:nvPr/>
        </p:nvSpPr>
        <p:spPr>
          <a:xfrm>
            <a:off x="3245476" y="543126"/>
            <a:ext cx="5178524" cy="445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Recurso secundario, para ver el historial de las rentas</a:t>
            </a:r>
          </a:p>
        </p:txBody>
      </p:sp>
      <p:sp>
        <p:nvSpPr>
          <p:cNvPr id="5" name="Google Shape;448;p41">
            <a:extLst>
              <a:ext uri="{FF2B5EF4-FFF2-40B4-BE49-F238E27FC236}">
                <a16:creationId xmlns:a16="http://schemas.microsoft.com/office/drawing/2014/main" id="{EA923949-957E-D55D-1175-BE0213F8739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81625" y="2276136"/>
            <a:ext cx="7042375" cy="732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Si una renta está actualmente ocupada, en </a:t>
            </a:r>
            <a:r>
              <a:rPr lang="es-MX" dirty="0" err="1"/>
              <a:t>fecha_fin</a:t>
            </a:r>
            <a:r>
              <a:rPr lang="es-MX" dirty="0"/>
              <a:t> se guarda la fecha de término del contrato</a:t>
            </a:r>
          </a:p>
        </p:txBody>
      </p:sp>
    </p:spTree>
    <p:extLst>
      <p:ext uri="{BB962C8B-B14F-4D97-AF65-F5344CB8AC3E}">
        <p14:creationId xmlns:p14="http://schemas.microsoft.com/office/powerpoint/2010/main" val="227534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>
          <a:extLst>
            <a:ext uri="{FF2B5EF4-FFF2-40B4-BE49-F238E27FC236}">
              <a16:creationId xmlns:a16="http://schemas.microsoft.com/office/drawing/2014/main" id="{DFC2554E-3690-C422-6EC9-24AE2576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1">
            <a:extLst>
              <a:ext uri="{FF2B5EF4-FFF2-40B4-BE49-F238E27FC236}">
                <a16:creationId xmlns:a16="http://schemas.microsoft.com/office/drawing/2014/main" id="{46C067D2-0733-EFD8-269C-30C2E9A3F6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rentas</a:t>
            </a:r>
            <a:endParaRPr dirty="0"/>
          </a:p>
        </p:txBody>
      </p:sp>
      <p:sp>
        <p:nvSpPr>
          <p:cNvPr id="448" name="Google Shape;448;p41">
            <a:extLst>
              <a:ext uri="{FF2B5EF4-FFF2-40B4-BE49-F238E27FC236}">
                <a16:creationId xmlns:a16="http://schemas.microsoft.com/office/drawing/2014/main" id="{FA0EF425-1A9D-1AE4-E8E5-B5B4294A08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81625" y="1718025"/>
            <a:ext cx="7042375" cy="10895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Se envía un JSON con los datos a modificar de la renta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Cuando un edificio ya nos e vaya a rentar por alguna razón se pone como activo=False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MX" dirty="0"/>
              <a:t>Para decir que una renta está ocupada se pone en disponibilidad False</a:t>
            </a:r>
          </a:p>
        </p:txBody>
      </p:sp>
      <p:sp>
        <p:nvSpPr>
          <p:cNvPr id="451" name="Google Shape;451;p41">
            <a:extLst>
              <a:ext uri="{FF2B5EF4-FFF2-40B4-BE49-F238E27FC236}">
                <a16:creationId xmlns:a16="http://schemas.microsoft.com/office/drawing/2014/main" id="{C278A3F7-AD57-862C-7A81-781A79F731CD}"/>
              </a:ext>
            </a:extLst>
          </p:cNvPr>
          <p:cNvSpPr/>
          <p:nvPr/>
        </p:nvSpPr>
        <p:spPr>
          <a:xfrm>
            <a:off x="720000" y="1340462"/>
            <a:ext cx="429000" cy="429000"/>
          </a:xfrm>
          <a:prstGeom prst="ellipse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 dirty="0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rPr>
              <a:t>d</a:t>
            </a:r>
            <a:endParaRPr sz="2100" b="1" dirty="0">
              <a:solidFill>
                <a:schemeClr val="dk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54" name="Google Shape;454;p41">
            <a:extLst>
              <a:ext uri="{FF2B5EF4-FFF2-40B4-BE49-F238E27FC236}">
                <a16:creationId xmlns:a16="http://schemas.microsoft.com/office/drawing/2014/main" id="{B207EB99-80BE-CE78-E185-73F2B974E8B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381625" y="1406025"/>
            <a:ext cx="7042500" cy="33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s-MX" dirty="0">
                <a:solidFill>
                  <a:schemeClr val="bg2"/>
                </a:solidFill>
                <a:latin typeface="Quicksand" panose="020B0604020202020204" charset="0"/>
              </a:rPr>
              <a:t>Actualizar una renta </a:t>
            </a:r>
            <a:r>
              <a:rPr lang="es-MX" dirty="0">
                <a:solidFill>
                  <a:schemeClr val="bg1">
                    <a:lumMod val="25000"/>
                  </a:schemeClr>
                </a:solidFill>
                <a:latin typeface="Quicksand" panose="020B0604020202020204" charset="0"/>
              </a:rPr>
              <a:t>–</a:t>
            </a:r>
            <a:r>
              <a:rPr lang="es-MX" dirty="0">
                <a:solidFill>
                  <a:schemeClr val="bg2"/>
                </a:solidFill>
                <a:latin typeface="Quicksand" panose="020B0604020202020204" charset="0"/>
              </a:rPr>
              <a:t> </a:t>
            </a:r>
            <a:r>
              <a:rPr lang="es-MX" dirty="0">
                <a:solidFill>
                  <a:schemeClr val="accent1">
                    <a:lumMod val="75000"/>
                  </a:schemeClr>
                </a:solidFill>
              </a:rPr>
              <a:t>PATCH /rentas/{id}</a:t>
            </a:r>
          </a:p>
        </p:txBody>
      </p:sp>
      <p:sp>
        <p:nvSpPr>
          <p:cNvPr id="457" name="Google Shape;457;p41">
            <a:extLst>
              <a:ext uri="{FF2B5EF4-FFF2-40B4-BE49-F238E27FC236}">
                <a16:creationId xmlns:a16="http://schemas.microsoft.com/office/drawing/2014/main" id="{98222DE9-C9AF-F2A8-5004-893645A622A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" name="Google Shape;463;p42">
            <a:extLst>
              <a:ext uri="{FF2B5EF4-FFF2-40B4-BE49-F238E27FC236}">
                <a16:creationId xmlns:a16="http://schemas.microsoft.com/office/drawing/2014/main" id="{BC2E4AE8-857B-D032-8385-7795875126C1}"/>
              </a:ext>
            </a:extLst>
          </p:cNvPr>
          <p:cNvSpPr txBox="1">
            <a:spLocks/>
          </p:cNvSpPr>
          <p:nvPr/>
        </p:nvSpPr>
        <p:spPr>
          <a:xfrm>
            <a:off x="2338132" y="486891"/>
            <a:ext cx="4758127" cy="684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None/>
              <a:defRPr sz="1400" b="0" i="0" u="none" strike="noStrike" cap="none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Recurso principal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b="1" dirty="0"/>
              <a:t>Contiene todas las propiedades en renta</a:t>
            </a:r>
          </a:p>
        </p:txBody>
      </p:sp>
    </p:spTree>
    <p:extLst>
      <p:ext uri="{BB962C8B-B14F-4D97-AF65-F5344CB8AC3E}">
        <p14:creationId xmlns:p14="http://schemas.microsoft.com/office/powerpoint/2010/main" val="590242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B6AEB7F-468D-D5E6-A823-0A65CFC6A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432" y="426903"/>
            <a:ext cx="7174386" cy="4175972"/>
          </a:xfrm>
          <a:prstGeom prst="rect">
            <a:avLst/>
          </a:prstGeom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40261BF-2536-759E-1899-D57E1BE4C7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7</a:t>
            </a:fld>
            <a:endParaRPr lang="es-MX"/>
          </a:p>
        </p:txBody>
      </p:sp>
      <p:sp>
        <p:nvSpPr>
          <p:cNvPr id="6" name="Google Shape;462;p42">
            <a:extLst>
              <a:ext uri="{FF2B5EF4-FFF2-40B4-BE49-F238E27FC236}">
                <a16:creationId xmlns:a16="http://schemas.microsoft.com/office/drawing/2014/main" id="{D428E497-E6BF-EFE2-0442-70FD41A596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1741" y="399949"/>
            <a:ext cx="2905403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Base de datos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593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A851C750-B754-E934-E622-D6CCCBF78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201FDA86-33EB-D04D-A65A-71983C3987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Formato de los datos</a:t>
            </a:r>
            <a:endParaRPr sz="3600" dirty="0"/>
          </a:p>
        </p:txBody>
      </p:sp>
      <p:sp>
        <p:nvSpPr>
          <p:cNvPr id="331" name="Google Shape;331;p32">
            <a:extLst>
              <a:ext uri="{FF2B5EF4-FFF2-40B4-BE49-F238E27FC236}">
                <a16:creationId xmlns:a16="http://schemas.microsoft.com/office/drawing/2014/main" id="{1EDB8C46-FF8A-FA3D-C05E-B1A183FA740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332" name="Google Shape;332;p32">
            <a:extLst>
              <a:ext uri="{FF2B5EF4-FFF2-40B4-BE49-F238E27FC236}">
                <a16:creationId xmlns:a16="http://schemas.microsoft.com/office/drawing/2014/main" id="{B40D1B24-9525-38C5-30BB-20DB306B065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cxnSp>
        <p:nvCxnSpPr>
          <p:cNvPr id="333" name="Google Shape;333;p32">
            <a:extLst>
              <a:ext uri="{FF2B5EF4-FFF2-40B4-BE49-F238E27FC236}">
                <a16:creationId xmlns:a16="http://schemas.microsoft.com/office/drawing/2014/main" id="{766040E0-F116-F12A-2E17-52B026A60E86}"/>
              </a:ext>
            </a:extLst>
          </p:cNvPr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>
            <a:extLst>
              <a:ext uri="{FF2B5EF4-FFF2-40B4-BE49-F238E27FC236}">
                <a16:creationId xmlns:a16="http://schemas.microsoft.com/office/drawing/2014/main" id="{6588C3B4-A503-612D-1758-9F54A2B54B5C}"/>
              </a:ext>
            </a:extLst>
          </p:cNvPr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DE028297-AE23-DB53-482E-C9D63D07D0C6}"/>
              </a:ext>
            </a:extLst>
          </p:cNvPr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>
            <a:extLst>
              <a:ext uri="{FF2B5EF4-FFF2-40B4-BE49-F238E27FC236}">
                <a16:creationId xmlns:a16="http://schemas.microsoft.com/office/drawing/2014/main" id="{FDD66370-E969-7138-2CF1-14A4D90E05E6}"/>
              </a:ext>
            </a:extLst>
          </p:cNvPr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1539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43987-0FE2-E578-3607-AAFA3A10E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2353D5D-540B-EDDB-DDC1-82AA929066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9</a:t>
            </a:fld>
            <a:endParaRPr lang="es-MX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EFB78CF-C8D2-F4BE-B5ED-00CB8A689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67" y="399245"/>
            <a:ext cx="2944039" cy="529735"/>
          </a:xfrm>
        </p:spPr>
        <p:txBody>
          <a:bodyPr/>
          <a:lstStyle/>
          <a:p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1. GET/rentas</a:t>
            </a:r>
            <a:endParaRPr lang="es-MX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9815025-1E10-1F72-76DD-E7EEC0963CA9}"/>
              </a:ext>
            </a:extLst>
          </p:cNvPr>
          <p:cNvSpPr txBox="1"/>
          <p:nvPr/>
        </p:nvSpPr>
        <p:spPr>
          <a:xfrm>
            <a:off x="546133" y="1148965"/>
            <a:ext cx="3691016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Mulish" panose="020B0604020202020204" charset="0"/>
              </a:rPr>
              <a:t>[</a:t>
            </a:r>
          </a:p>
          <a:p>
            <a:r>
              <a:rPr lang="es-MX" sz="1200" dirty="0">
                <a:latin typeface="Mulish" panose="020B0604020202020204" charset="0"/>
              </a:rPr>
              <a:t>  {</a:t>
            </a:r>
          </a:p>
          <a:p>
            <a:r>
              <a:rPr lang="es-MX" sz="1200" dirty="0">
                <a:latin typeface="Mulish" panose="020B0604020202020204" charset="0"/>
              </a:rPr>
              <a:t>    "id": 101,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tipo_propiedad</a:t>
            </a:r>
            <a:r>
              <a:rPr lang="es-MX" sz="1200" dirty="0">
                <a:latin typeface="Mulish" panose="020B0604020202020204" charset="0"/>
              </a:rPr>
              <a:t>": "departamento",</a:t>
            </a:r>
          </a:p>
          <a:p>
            <a:r>
              <a:rPr lang="es-MX" sz="1200" dirty="0">
                <a:latin typeface="Mulish" panose="020B0604020202020204" charset="0"/>
              </a:rPr>
              <a:t>    "habitaciones": 2,</a:t>
            </a:r>
          </a:p>
          <a:p>
            <a:r>
              <a:rPr lang="es-MX" sz="1200" dirty="0">
                <a:latin typeface="Mulish" panose="020B0604020202020204" charset="0"/>
              </a:rPr>
              <a:t>    "baños": 1,</a:t>
            </a:r>
          </a:p>
          <a:p>
            <a:r>
              <a:rPr lang="es-MX" sz="1200" dirty="0">
                <a:latin typeface="Mulish" panose="020B0604020202020204" charset="0"/>
              </a:rPr>
              <a:t>    "disponibilidad": true,</a:t>
            </a:r>
          </a:p>
          <a:p>
            <a:r>
              <a:rPr lang="es-MX" sz="1200" dirty="0">
                <a:latin typeface="Mulish" panose="020B0604020202020204" charset="0"/>
              </a:rPr>
              <a:t>    "mascotas": true,</a:t>
            </a:r>
          </a:p>
          <a:p>
            <a:r>
              <a:rPr lang="es-MX" sz="1200" dirty="0">
                <a:latin typeface="Mulish" panose="020B0604020202020204" charset="0"/>
              </a:rPr>
              <a:t>    "tinaco": true,</a:t>
            </a:r>
          </a:p>
          <a:p>
            <a:r>
              <a:rPr lang="es-MX" sz="1200" dirty="0">
                <a:latin typeface="Mulish" panose="020B0604020202020204" charset="0"/>
              </a:rPr>
              <a:t>    "estacionamiento": false,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lat</a:t>
            </a:r>
            <a:r>
              <a:rPr lang="es-MX" sz="1200" dirty="0">
                <a:latin typeface="Mulish" panose="020B0604020202020204" charset="0"/>
              </a:rPr>
              <a:t>": 31.865,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lon</a:t>
            </a:r>
            <a:r>
              <a:rPr lang="es-MX" sz="1200" dirty="0">
                <a:latin typeface="Mulish" panose="020B0604020202020204" charset="0"/>
              </a:rPr>
              <a:t>": -116.625,</a:t>
            </a:r>
          </a:p>
          <a:p>
            <a:r>
              <a:rPr lang="es-MX" sz="1200" dirty="0">
                <a:latin typeface="Mulish" panose="020B0604020202020204" charset="0"/>
              </a:rPr>
              <a:t>    "muebles": [],</a:t>
            </a:r>
          </a:p>
          <a:p>
            <a:r>
              <a:rPr lang="es-MX" sz="1200" dirty="0">
                <a:latin typeface="Mulish" panose="020B0604020202020204" charset="0"/>
              </a:rPr>
              <a:t>    "servicios": ["Agua", "Internet", "Luz"],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link_renta</a:t>
            </a:r>
            <a:r>
              <a:rPr lang="es-MX" sz="1200" dirty="0">
                <a:latin typeface="Mulish" panose="020B0604020202020204" charset="0"/>
              </a:rPr>
              <a:t>": "/rentas/101“,</a:t>
            </a:r>
          </a:p>
          <a:p>
            <a:r>
              <a:rPr lang="es-MX" sz="1200" dirty="0">
                <a:latin typeface="Mulish" panose="020B0604020202020204" charset="0"/>
              </a:rPr>
              <a:t>    “precio”: 8,000</a:t>
            </a:r>
          </a:p>
          <a:p>
            <a:r>
              <a:rPr lang="es-MX" sz="1200" dirty="0">
                <a:latin typeface="Mulish" panose="020B0604020202020204" charset="0"/>
              </a:rPr>
              <a:t>  },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CDFC112-0F9B-A480-87CD-4C73EA34A210}"/>
              </a:ext>
            </a:extLst>
          </p:cNvPr>
          <p:cNvSpPr txBox="1"/>
          <p:nvPr/>
        </p:nvSpPr>
        <p:spPr>
          <a:xfrm>
            <a:off x="4459853" y="1072349"/>
            <a:ext cx="3995127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sz="1200" dirty="0">
              <a:latin typeface="Mulish" panose="020B0604020202020204" charset="0"/>
            </a:endParaRPr>
          </a:p>
          <a:p>
            <a:r>
              <a:rPr lang="es-MX" sz="1200" dirty="0">
                <a:latin typeface="Mulish" panose="020B0604020202020204" charset="0"/>
              </a:rPr>
              <a:t>  {</a:t>
            </a:r>
          </a:p>
          <a:p>
            <a:r>
              <a:rPr lang="es-MX" sz="1200" dirty="0">
                <a:latin typeface="Mulish" panose="020B0604020202020204" charset="0"/>
              </a:rPr>
              <a:t>    "id": 102,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tipo_propiedad</a:t>
            </a:r>
            <a:r>
              <a:rPr lang="es-MX" sz="1200" dirty="0">
                <a:latin typeface="Mulish" panose="020B0604020202020204" charset="0"/>
              </a:rPr>
              <a:t>": "casa",</a:t>
            </a:r>
          </a:p>
          <a:p>
            <a:r>
              <a:rPr lang="es-MX" sz="1200" dirty="0">
                <a:latin typeface="Mulish" panose="020B0604020202020204" charset="0"/>
              </a:rPr>
              <a:t>    "habitaciones": 3,</a:t>
            </a:r>
          </a:p>
          <a:p>
            <a:r>
              <a:rPr lang="es-MX" sz="1200" dirty="0">
                <a:latin typeface="Mulish" panose="020B0604020202020204" charset="0"/>
              </a:rPr>
              <a:t>    "baños": 2,</a:t>
            </a:r>
          </a:p>
          <a:p>
            <a:r>
              <a:rPr lang="es-MX" sz="1200" dirty="0">
                <a:latin typeface="Mulish" panose="020B0604020202020204" charset="0"/>
              </a:rPr>
              <a:t>    "disponibilidad": false,</a:t>
            </a:r>
          </a:p>
          <a:p>
            <a:r>
              <a:rPr lang="es-MX" sz="1200" dirty="0">
                <a:latin typeface="Mulish" panose="020B0604020202020204" charset="0"/>
              </a:rPr>
              <a:t>    "mascotas": true,</a:t>
            </a:r>
          </a:p>
          <a:p>
            <a:r>
              <a:rPr lang="es-MX" sz="1200" dirty="0">
                <a:latin typeface="Mulish" panose="020B0604020202020204" charset="0"/>
              </a:rPr>
              <a:t>    "tinaco": false,</a:t>
            </a:r>
          </a:p>
          <a:p>
            <a:r>
              <a:rPr lang="es-MX" sz="1200" dirty="0">
                <a:latin typeface="Mulish" panose="020B0604020202020204" charset="0"/>
              </a:rPr>
              <a:t>    "estacionamiento": true,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lat</a:t>
            </a:r>
            <a:r>
              <a:rPr lang="es-MX" sz="1200" dirty="0">
                <a:latin typeface="Mulish" panose="020B0604020202020204" charset="0"/>
              </a:rPr>
              <a:t>": 31.870,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lon</a:t>
            </a:r>
            <a:r>
              <a:rPr lang="es-MX" sz="1200" dirty="0">
                <a:latin typeface="Mulish" panose="020B0604020202020204" charset="0"/>
              </a:rPr>
              <a:t>": -116.630,</a:t>
            </a:r>
          </a:p>
          <a:p>
            <a:r>
              <a:rPr lang="es-MX" sz="1200" dirty="0">
                <a:latin typeface="Mulish" panose="020B0604020202020204" charset="0"/>
              </a:rPr>
              <a:t>    "muebles": [“Lavadora", "</a:t>
            </a:r>
            <a:r>
              <a:rPr lang="es-MX" sz="1200" dirty="0" err="1">
                <a:latin typeface="Mulish" panose="020B0604020202020204" charset="0"/>
              </a:rPr>
              <a:t>Estufa“,”Refrigerador</a:t>
            </a:r>
            <a:r>
              <a:rPr lang="es-MX" sz="1200" dirty="0">
                <a:latin typeface="Mulish" panose="020B0604020202020204" charset="0"/>
              </a:rPr>
              <a:t>”],</a:t>
            </a:r>
          </a:p>
          <a:p>
            <a:r>
              <a:rPr lang="es-MX" sz="1200" dirty="0">
                <a:latin typeface="Mulish" panose="020B0604020202020204" charset="0"/>
              </a:rPr>
              <a:t>    "servicios": ["Agua", "Gas"],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link_renta</a:t>
            </a:r>
            <a:r>
              <a:rPr lang="es-MX" sz="1200" dirty="0">
                <a:latin typeface="Mulish" panose="020B0604020202020204" charset="0"/>
              </a:rPr>
              <a:t>": "/rentas/102",</a:t>
            </a:r>
          </a:p>
          <a:p>
            <a:r>
              <a:rPr lang="es-MX" sz="1200" dirty="0">
                <a:latin typeface="Mulish" panose="020B0604020202020204" charset="0"/>
              </a:rPr>
              <a:t>    “precio”: 12,000</a:t>
            </a:r>
          </a:p>
          <a:p>
            <a:r>
              <a:rPr lang="es-MX" sz="1200" dirty="0">
                <a:latin typeface="Mulish" panose="020B0604020202020204" charset="0"/>
              </a:rPr>
              <a:t>  }</a:t>
            </a:r>
          </a:p>
          <a:p>
            <a:r>
              <a:rPr lang="es-MX" sz="1200" dirty="0">
                <a:latin typeface="Mulish" panose="020B0604020202020204" charset="0"/>
              </a:rPr>
              <a:t>]</a:t>
            </a:r>
          </a:p>
          <a:p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E8E5E1A-D01A-69A5-A4FC-AFC8E0CB588F}"/>
              </a:ext>
            </a:extLst>
          </p:cNvPr>
          <p:cNvSpPr txBox="1"/>
          <p:nvPr/>
        </p:nvSpPr>
        <p:spPr>
          <a:xfrm>
            <a:off x="404465" y="841188"/>
            <a:ext cx="83350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Obtener la </a:t>
            </a:r>
            <a:r>
              <a:rPr lang="es-MX" b="1" dirty="0" err="1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info</a:t>
            </a:r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 de las rentas, se puede filtrar por parámetros</a:t>
            </a:r>
          </a:p>
        </p:txBody>
      </p:sp>
    </p:spTree>
    <p:extLst>
      <p:ext uri="{BB962C8B-B14F-4D97-AF65-F5344CB8AC3E}">
        <p14:creationId xmlns:p14="http://schemas.microsoft.com/office/powerpoint/2010/main" val="2386773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C3C94-B64A-3409-51DC-0D7B011C0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D6F5C17-FF5D-31E3-4672-FF3CA034D3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10</a:t>
            </a:fld>
            <a:endParaRPr lang="es-MX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1018231-D2FC-61EF-683D-B83FBB0B8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67" y="399245"/>
            <a:ext cx="2944039" cy="529735"/>
          </a:xfrm>
        </p:spPr>
        <p:txBody>
          <a:bodyPr/>
          <a:lstStyle/>
          <a:p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2. GET/rentas/{id} </a:t>
            </a:r>
            <a:endParaRPr lang="es-MX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62719CA-5B50-1032-D752-AB1B49AEBE43}"/>
              </a:ext>
            </a:extLst>
          </p:cNvPr>
          <p:cNvSpPr txBox="1"/>
          <p:nvPr/>
        </p:nvSpPr>
        <p:spPr>
          <a:xfrm>
            <a:off x="573110" y="1370923"/>
            <a:ext cx="36910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"general": {</a:t>
            </a:r>
          </a:p>
          <a:p>
            <a:r>
              <a:rPr lang="es-MX" sz="1200" dirty="0">
                <a:latin typeface="Mulish" panose="020B0604020202020204" charset="0"/>
              </a:rPr>
              <a:t>    "id": 101,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tipo_propiedad</a:t>
            </a:r>
            <a:r>
              <a:rPr lang="es-MX" sz="1200" dirty="0">
                <a:latin typeface="Mulish" panose="020B0604020202020204" charset="0"/>
              </a:rPr>
              <a:t>": "departamento",</a:t>
            </a:r>
          </a:p>
          <a:p>
            <a:r>
              <a:rPr lang="es-MX" sz="1200" dirty="0">
                <a:latin typeface="Mulish" panose="020B0604020202020204" charset="0"/>
              </a:rPr>
              <a:t>    "habitaciones": 2,</a:t>
            </a:r>
          </a:p>
          <a:p>
            <a:r>
              <a:rPr lang="es-MX" sz="1200" dirty="0">
                <a:latin typeface="Mulish" panose="020B0604020202020204" charset="0"/>
              </a:rPr>
              <a:t>    "baños": 1,</a:t>
            </a:r>
          </a:p>
          <a:p>
            <a:r>
              <a:rPr lang="es-MX" sz="1200" dirty="0">
                <a:latin typeface="Mulish" panose="020B0604020202020204" charset="0"/>
              </a:rPr>
              <a:t>    "disponibilidad": true,</a:t>
            </a:r>
          </a:p>
          <a:p>
            <a:r>
              <a:rPr lang="es-MX" sz="1200" dirty="0">
                <a:latin typeface="Mulish" panose="020B0604020202020204" charset="0"/>
              </a:rPr>
              <a:t>    "mascotas": true,</a:t>
            </a:r>
          </a:p>
          <a:p>
            <a:r>
              <a:rPr lang="es-MX" sz="1200" dirty="0">
                <a:latin typeface="Mulish" panose="020B0604020202020204" charset="0"/>
              </a:rPr>
              <a:t>    "tinaco": true,</a:t>
            </a:r>
          </a:p>
          <a:p>
            <a:r>
              <a:rPr lang="es-MX" sz="1200" dirty="0">
                <a:latin typeface="Mulish" panose="020B0604020202020204" charset="0"/>
              </a:rPr>
              <a:t>    "estacionamiento": false,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lat</a:t>
            </a:r>
            <a:r>
              <a:rPr lang="es-MX" sz="1200" dirty="0">
                <a:latin typeface="Mulish" panose="020B0604020202020204" charset="0"/>
              </a:rPr>
              <a:t>": 31.865,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lon</a:t>
            </a:r>
            <a:r>
              <a:rPr lang="es-MX" sz="1200" dirty="0">
                <a:latin typeface="Mulish" panose="020B0604020202020204" charset="0"/>
              </a:rPr>
              <a:t>": -116.625,</a:t>
            </a:r>
          </a:p>
          <a:p>
            <a:r>
              <a:rPr lang="es-MX" sz="1200" dirty="0">
                <a:latin typeface="Mulish" panose="020B0604020202020204" charset="0"/>
              </a:rPr>
              <a:t>    "muebles": [],</a:t>
            </a:r>
          </a:p>
          <a:p>
            <a:r>
              <a:rPr lang="es-MX" sz="1200" dirty="0">
                <a:latin typeface="Mulish" panose="020B0604020202020204" charset="0"/>
              </a:rPr>
              <a:t>    "servicios": ["Agua", "Internet", "Luz"] ,</a:t>
            </a:r>
          </a:p>
          <a:p>
            <a:r>
              <a:rPr lang="es-MX" sz="1200" dirty="0">
                <a:latin typeface="Mulish" panose="020B0604020202020204" charset="0"/>
              </a:rPr>
              <a:t>    “precio”: 8,000</a:t>
            </a:r>
          </a:p>
          <a:p>
            <a:r>
              <a:rPr lang="es-MX" sz="1200" dirty="0">
                <a:latin typeface="Mulish" panose="020B0604020202020204" charset="0"/>
              </a:rPr>
              <a:t>  },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A29FD79-C4AF-0D39-0C7C-4F97BB14BDCF}"/>
              </a:ext>
            </a:extLst>
          </p:cNvPr>
          <p:cNvSpPr txBox="1"/>
          <p:nvPr/>
        </p:nvSpPr>
        <p:spPr>
          <a:xfrm>
            <a:off x="4368484" y="1322577"/>
            <a:ext cx="4202406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Mulish" panose="020B0604020202020204" charset="0"/>
              </a:rPr>
              <a:t>"arrendatario": {</a:t>
            </a:r>
          </a:p>
          <a:p>
            <a:r>
              <a:rPr lang="es-MX" sz="1200" dirty="0">
                <a:latin typeface="Mulish" panose="020B0604020202020204" charset="0"/>
              </a:rPr>
              <a:t>    "nombre": "Laura Gómez",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telefono</a:t>
            </a:r>
            <a:r>
              <a:rPr lang="es-MX" sz="1200" dirty="0">
                <a:latin typeface="Mulish" panose="020B0604020202020204" charset="0"/>
              </a:rPr>
              <a:t>": "5552345678",</a:t>
            </a:r>
          </a:p>
          <a:p>
            <a:r>
              <a:rPr lang="es-MX" sz="1200" dirty="0">
                <a:latin typeface="Mulish" panose="020B0604020202020204" charset="0"/>
              </a:rPr>
              <a:t>    "correo": "laura.gomez@example.com",</a:t>
            </a:r>
          </a:p>
          <a:p>
            <a:r>
              <a:rPr lang="es-MX" sz="1200" dirty="0">
                <a:latin typeface="Mulish" panose="020B0604020202020204" charset="0"/>
              </a:rPr>
              <a:t>},</a:t>
            </a:r>
          </a:p>
          <a:p>
            <a:r>
              <a:rPr lang="es-MX" sz="1200" dirty="0">
                <a:latin typeface="Mulish" panose="020B0604020202020204" charset="0"/>
              </a:rPr>
              <a:t>  "historial": [</a:t>
            </a:r>
          </a:p>
          <a:p>
            <a:r>
              <a:rPr lang="es-MX" sz="1200" dirty="0">
                <a:latin typeface="Mulish" panose="020B0604020202020204" charset="0"/>
              </a:rPr>
              <a:t>    {</a:t>
            </a:r>
          </a:p>
          <a:p>
            <a:r>
              <a:rPr lang="es-MX" sz="1200" dirty="0">
                <a:latin typeface="Mulish" panose="020B0604020202020204" charset="0"/>
              </a:rPr>
              <a:t>      "</a:t>
            </a:r>
            <a:r>
              <a:rPr lang="es-MX" sz="1200" dirty="0" err="1">
                <a:latin typeface="Mulish" panose="020B0604020202020204" charset="0"/>
              </a:rPr>
              <a:t>fecha_inicio</a:t>
            </a:r>
            <a:r>
              <a:rPr lang="es-MX" sz="1200" dirty="0">
                <a:latin typeface="Mulish" panose="020B0604020202020204" charset="0"/>
              </a:rPr>
              <a:t>": "2025-01-01",</a:t>
            </a:r>
          </a:p>
          <a:p>
            <a:r>
              <a:rPr lang="es-MX" sz="1200" dirty="0">
                <a:latin typeface="Mulish" panose="020B0604020202020204" charset="0"/>
              </a:rPr>
              <a:t>      "</a:t>
            </a:r>
            <a:r>
              <a:rPr lang="es-MX" sz="1200" dirty="0" err="1">
                <a:latin typeface="Mulish" panose="020B0604020202020204" charset="0"/>
              </a:rPr>
              <a:t>fecha_fin</a:t>
            </a:r>
            <a:r>
              <a:rPr lang="es-MX" sz="1200" dirty="0">
                <a:latin typeface="Mulish" panose="020B0604020202020204" charset="0"/>
              </a:rPr>
              <a:t>": "2025-03-31"</a:t>
            </a:r>
          </a:p>
          <a:p>
            <a:r>
              <a:rPr lang="es-MX" sz="1200" dirty="0">
                <a:latin typeface="Mulish" panose="020B0604020202020204" charset="0"/>
              </a:rPr>
              <a:t>    },</a:t>
            </a:r>
          </a:p>
          <a:p>
            <a:r>
              <a:rPr lang="es-MX" sz="1200" dirty="0">
                <a:latin typeface="Mulish" panose="020B0604020202020204" charset="0"/>
              </a:rPr>
              <a:t>    {</a:t>
            </a:r>
          </a:p>
          <a:p>
            <a:r>
              <a:rPr lang="es-MX" sz="1200" dirty="0">
                <a:latin typeface="Mulish" panose="020B0604020202020204" charset="0"/>
              </a:rPr>
              <a:t>     "</a:t>
            </a:r>
            <a:r>
              <a:rPr lang="es-MX" sz="1200" dirty="0" err="1">
                <a:latin typeface="Mulish" panose="020B0604020202020204" charset="0"/>
              </a:rPr>
              <a:t>fecha_inicio</a:t>
            </a:r>
            <a:r>
              <a:rPr lang="es-MX" sz="1200" dirty="0">
                <a:latin typeface="Mulish" panose="020B0604020202020204" charset="0"/>
              </a:rPr>
              <a:t>": "2025-04-01",</a:t>
            </a:r>
          </a:p>
          <a:p>
            <a:r>
              <a:rPr lang="es-MX" sz="1200" dirty="0">
                <a:latin typeface="Mulish" panose="020B0604020202020204" charset="0"/>
              </a:rPr>
              <a:t>      "</a:t>
            </a:r>
            <a:r>
              <a:rPr lang="es-MX" sz="1200" dirty="0" err="1">
                <a:latin typeface="Mulish" panose="020B0604020202020204" charset="0"/>
              </a:rPr>
              <a:t>fecha_fin</a:t>
            </a:r>
            <a:r>
              <a:rPr lang="es-MX" sz="1200" dirty="0">
                <a:latin typeface="Mulish" panose="020B0604020202020204" charset="0"/>
              </a:rPr>
              <a:t> ": "2026-04-01",</a:t>
            </a:r>
          </a:p>
          <a:p>
            <a:r>
              <a:rPr lang="es-MX" sz="1200" dirty="0">
                <a:latin typeface="Mulish" panose="020B0604020202020204" charset="0"/>
              </a:rPr>
              <a:t>    }</a:t>
            </a:r>
          </a:p>
          <a:p>
            <a:r>
              <a:rPr lang="es-MX" sz="1200" dirty="0">
                <a:latin typeface="Mulish" panose="020B0604020202020204" charset="0"/>
              </a:rPr>
              <a:t>  ]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  <a:p>
            <a:endParaRPr lang="es-MX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FFB7C9D-C43C-F4A4-CDD7-EF6D4043EFEC}"/>
              </a:ext>
            </a:extLst>
          </p:cNvPr>
          <p:cNvSpPr txBox="1"/>
          <p:nvPr/>
        </p:nvSpPr>
        <p:spPr>
          <a:xfrm>
            <a:off x="404465" y="841188"/>
            <a:ext cx="34463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Obtener el detalle de una renta</a:t>
            </a:r>
          </a:p>
        </p:txBody>
      </p:sp>
    </p:spTree>
    <p:extLst>
      <p:ext uri="{BB962C8B-B14F-4D97-AF65-F5344CB8AC3E}">
        <p14:creationId xmlns:p14="http://schemas.microsoft.com/office/powerpoint/2010/main" val="3005873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944CF22-B98F-D5C4-4CDE-20F55C592F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11</a:t>
            </a:fld>
            <a:endParaRPr lang="es-MX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07810EA-6944-0517-C2D1-716DBDD08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67" y="399245"/>
            <a:ext cx="3291769" cy="529735"/>
          </a:xfrm>
        </p:spPr>
        <p:txBody>
          <a:bodyPr/>
          <a:lstStyle/>
          <a:p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3. POST/rentas/{id} </a:t>
            </a:r>
            <a:endParaRPr lang="es-MX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69E3BAD-782E-2904-966A-4DF29FCB818E}"/>
              </a:ext>
            </a:extLst>
          </p:cNvPr>
          <p:cNvSpPr txBox="1"/>
          <p:nvPr/>
        </p:nvSpPr>
        <p:spPr>
          <a:xfrm>
            <a:off x="404467" y="1168689"/>
            <a:ext cx="369101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"general": {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tipo_propiedad</a:t>
            </a:r>
            <a:r>
              <a:rPr lang="es-MX" sz="1200" dirty="0">
                <a:latin typeface="Mulish" panose="020B0604020202020204" charset="0"/>
              </a:rPr>
              <a:t>": "departamento",</a:t>
            </a:r>
          </a:p>
          <a:p>
            <a:r>
              <a:rPr lang="es-MX" sz="1200" dirty="0">
                <a:latin typeface="Mulish" panose="020B0604020202020204" charset="0"/>
              </a:rPr>
              <a:t>    "habitaciones": 2,</a:t>
            </a:r>
          </a:p>
          <a:p>
            <a:r>
              <a:rPr lang="es-MX" sz="1200" dirty="0">
                <a:latin typeface="Mulish" panose="020B0604020202020204" charset="0"/>
              </a:rPr>
              <a:t>    "baños": 1,</a:t>
            </a:r>
          </a:p>
          <a:p>
            <a:r>
              <a:rPr lang="es-MX" sz="1200" dirty="0">
                <a:latin typeface="Mulish" panose="020B0604020202020204" charset="0"/>
              </a:rPr>
              <a:t>    "disponibilidad": true,</a:t>
            </a:r>
          </a:p>
          <a:p>
            <a:r>
              <a:rPr lang="es-MX" sz="1200" dirty="0">
                <a:latin typeface="Mulish" panose="020B0604020202020204" charset="0"/>
              </a:rPr>
              <a:t>    "mascotas": true,</a:t>
            </a:r>
          </a:p>
          <a:p>
            <a:r>
              <a:rPr lang="es-MX" sz="1200" dirty="0">
                <a:latin typeface="Mulish" panose="020B0604020202020204" charset="0"/>
              </a:rPr>
              <a:t>    "tinaco": true,</a:t>
            </a:r>
          </a:p>
          <a:p>
            <a:r>
              <a:rPr lang="es-MX" sz="1200" dirty="0">
                <a:latin typeface="Mulish" panose="020B0604020202020204" charset="0"/>
              </a:rPr>
              <a:t>    "estacionamiento": false,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lat</a:t>
            </a:r>
            <a:r>
              <a:rPr lang="es-MX" sz="1200" dirty="0">
                <a:latin typeface="Mulish" panose="020B0604020202020204" charset="0"/>
              </a:rPr>
              <a:t>": 31.865,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lon</a:t>
            </a:r>
            <a:r>
              <a:rPr lang="es-MX" sz="1200" dirty="0">
                <a:latin typeface="Mulish" panose="020B0604020202020204" charset="0"/>
              </a:rPr>
              <a:t>": -116.625,</a:t>
            </a:r>
          </a:p>
          <a:p>
            <a:r>
              <a:rPr lang="es-MX" sz="1200" dirty="0">
                <a:latin typeface="Mulish" panose="020B0604020202020204" charset="0"/>
              </a:rPr>
              <a:t>    "muebles": []</a:t>
            </a:r>
          </a:p>
          <a:p>
            <a:r>
              <a:rPr lang="es-MX" sz="1200" dirty="0">
                <a:latin typeface="Mulish" panose="020B0604020202020204" charset="0"/>
              </a:rPr>
              <a:t>    "servicios": ["Agua", "Internet", "Luz"] ,</a:t>
            </a:r>
          </a:p>
          <a:p>
            <a:r>
              <a:rPr lang="es-MX" sz="1200" dirty="0">
                <a:latin typeface="Mulish" panose="020B0604020202020204" charset="0"/>
              </a:rPr>
              <a:t>    “precio”: 15,000</a:t>
            </a:r>
          </a:p>
          <a:p>
            <a:r>
              <a:rPr lang="es-MX" sz="1200" dirty="0">
                <a:latin typeface="Mulish" panose="020B0604020202020204" charset="0"/>
              </a:rPr>
              <a:t>  },</a:t>
            </a:r>
          </a:p>
          <a:p>
            <a:r>
              <a:rPr lang="es-MX" sz="1200" dirty="0">
                <a:latin typeface="Mulish" panose="020B0604020202020204" charset="0"/>
              </a:rPr>
              <a:t>  "arrendatario": {</a:t>
            </a:r>
          </a:p>
          <a:p>
            <a:r>
              <a:rPr lang="es-MX" sz="1200" dirty="0">
                <a:latin typeface="Mulish" panose="020B0604020202020204" charset="0"/>
              </a:rPr>
              <a:t>    "id": 12</a:t>
            </a:r>
          </a:p>
          <a:p>
            <a:r>
              <a:rPr lang="es-MX" sz="1200" dirty="0">
                <a:latin typeface="Mulish" panose="020B0604020202020204" charset="0"/>
              </a:rPr>
              <a:t>  }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BD84EFC-46B7-C2A5-06A8-925A572E9ABD}"/>
              </a:ext>
            </a:extLst>
          </p:cNvPr>
          <p:cNvSpPr txBox="1"/>
          <p:nvPr/>
        </p:nvSpPr>
        <p:spPr>
          <a:xfrm>
            <a:off x="404467" y="841188"/>
            <a:ext cx="40258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Publicar una renta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20169F3-E50A-E412-DA67-A2A8CCCB79AA}"/>
              </a:ext>
            </a:extLst>
          </p:cNvPr>
          <p:cNvSpPr txBox="1"/>
          <p:nvPr/>
        </p:nvSpPr>
        <p:spPr>
          <a:xfrm>
            <a:off x="4645380" y="928980"/>
            <a:ext cx="3729651" cy="2185214"/>
          </a:xfrm>
          <a:custGeom>
            <a:avLst/>
            <a:gdLst>
              <a:gd name="connsiteX0" fmla="*/ 0 w 3729651"/>
              <a:gd name="connsiteY0" fmla="*/ 0 h 2185214"/>
              <a:gd name="connsiteX1" fmla="*/ 509719 w 3729651"/>
              <a:gd name="connsiteY1" fmla="*/ 0 h 2185214"/>
              <a:gd name="connsiteX2" fmla="*/ 1205920 w 3729651"/>
              <a:gd name="connsiteY2" fmla="*/ 0 h 2185214"/>
              <a:gd name="connsiteX3" fmla="*/ 1790232 w 3729651"/>
              <a:gd name="connsiteY3" fmla="*/ 0 h 2185214"/>
              <a:gd name="connsiteX4" fmla="*/ 2374544 w 3729651"/>
              <a:gd name="connsiteY4" fmla="*/ 0 h 2185214"/>
              <a:gd name="connsiteX5" fmla="*/ 2958856 w 3729651"/>
              <a:gd name="connsiteY5" fmla="*/ 0 h 2185214"/>
              <a:gd name="connsiteX6" fmla="*/ 3729651 w 3729651"/>
              <a:gd name="connsiteY6" fmla="*/ 0 h 2185214"/>
              <a:gd name="connsiteX7" fmla="*/ 3729651 w 3729651"/>
              <a:gd name="connsiteY7" fmla="*/ 480747 h 2185214"/>
              <a:gd name="connsiteX8" fmla="*/ 3729651 w 3729651"/>
              <a:gd name="connsiteY8" fmla="*/ 961494 h 2185214"/>
              <a:gd name="connsiteX9" fmla="*/ 3729651 w 3729651"/>
              <a:gd name="connsiteY9" fmla="*/ 1529650 h 2185214"/>
              <a:gd name="connsiteX10" fmla="*/ 3729651 w 3729651"/>
              <a:gd name="connsiteY10" fmla="*/ 2185214 h 2185214"/>
              <a:gd name="connsiteX11" fmla="*/ 3182636 w 3729651"/>
              <a:gd name="connsiteY11" fmla="*/ 2185214 h 2185214"/>
              <a:gd name="connsiteX12" fmla="*/ 2672917 w 3729651"/>
              <a:gd name="connsiteY12" fmla="*/ 2185214 h 2185214"/>
              <a:gd name="connsiteX13" fmla="*/ 1976715 w 3729651"/>
              <a:gd name="connsiteY13" fmla="*/ 2185214 h 2185214"/>
              <a:gd name="connsiteX14" fmla="*/ 1429700 w 3729651"/>
              <a:gd name="connsiteY14" fmla="*/ 2185214 h 2185214"/>
              <a:gd name="connsiteX15" fmla="*/ 882684 w 3729651"/>
              <a:gd name="connsiteY15" fmla="*/ 2185214 h 2185214"/>
              <a:gd name="connsiteX16" fmla="*/ 0 w 3729651"/>
              <a:gd name="connsiteY16" fmla="*/ 2185214 h 2185214"/>
              <a:gd name="connsiteX17" fmla="*/ 0 w 3729651"/>
              <a:gd name="connsiteY17" fmla="*/ 1704467 h 2185214"/>
              <a:gd name="connsiteX18" fmla="*/ 0 w 3729651"/>
              <a:gd name="connsiteY18" fmla="*/ 1158163 h 2185214"/>
              <a:gd name="connsiteX19" fmla="*/ 0 w 3729651"/>
              <a:gd name="connsiteY19" fmla="*/ 568156 h 2185214"/>
              <a:gd name="connsiteX20" fmla="*/ 0 w 3729651"/>
              <a:gd name="connsiteY20" fmla="*/ 0 h 218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29651" h="2185214" extrusionOk="0">
                <a:moveTo>
                  <a:pt x="0" y="0"/>
                </a:moveTo>
                <a:cubicBezTo>
                  <a:pt x="121996" y="-1004"/>
                  <a:pt x="282777" y="-12994"/>
                  <a:pt x="509719" y="0"/>
                </a:cubicBezTo>
                <a:cubicBezTo>
                  <a:pt x="736661" y="12994"/>
                  <a:pt x="910380" y="-32828"/>
                  <a:pt x="1205920" y="0"/>
                </a:cubicBezTo>
                <a:cubicBezTo>
                  <a:pt x="1501460" y="32828"/>
                  <a:pt x="1530084" y="-7894"/>
                  <a:pt x="1790232" y="0"/>
                </a:cubicBezTo>
                <a:cubicBezTo>
                  <a:pt x="2050380" y="7894"/>
                  <a:pt x="2102277" y="18845"/>
                  <a:pt x="2374544" y="0"/>
                </a:cubicBezTo>
                <a:cubicBezTo>
                  <a:pt x="2646811" y="-18845"/>
                  <a:pt x="2805436" y="-1274"/>
                  <a:pt x="2958856" y="0"/>
                </a:cubicBezTo>
                <a:cubicBezTo>
                  <a:pt x="3112276" y="1274"/>
                  <a:pt x="3570114" y="34897"/>
                  <a:pt x="3729651" y="0"/>
                </a:cubicBezTo>
                <a:cubicBezTo>
                  <a:pt x="3711266" y="162189"/>
                  <a:pt x="3748033" y="316466"/>
                  <a:pt x="3729651" y="480747"/>
                </a:cubicBezTo>
                <a:cubicBezTo>
                  <a:pt x="3711269" y="645028"/>
                  <a:pt x="3707544" y="820984"/>
                  <a:pt x="3729651" y="961494"/>
                </a:cubicBezTo>
                <a:cubicBezTo>
                  <a:pt x="3751758" y="1102004"/>
                  <a:pt x="3701657" y="1396881"/>
                  <a:pt x="3729651" y="1529650"/>
                </a:cubicBezTo>
                <a:cubicBezTo>
                  <a:pt x="3757645" y="1662419"/>
                  <a:pt x="3703741" y="1965575"/>
                  <a:pt x="3729651" y="2185214"/>
                </a:cubicBezTo>
                <a:cubicBezTo>
                  <a:pt x="3515602" y="2195411"/>
                  <a:pt x="3352866" y="2188119"/>
                  <a:pt x="3182636" y="2185214"/>
                </a:cubicBezTo>
                <a:cubicBezTo>
                  <a:pt x="3012406" y="2182309"/>
                  <a:pt x="2870102" y="2209965"/>
                  <a:pt x="2672917" y="2185214"/>
                </a:cubicBezTo>
                <a:cubicBezTo>
                  <a:pt x="2475732" y="2160463"/>
                  <a:pt x="2248982" y="2173715"/>
                  <a:pt x="1976715" y="2185214"/>
                </a:cubicBezTo>
                <a:cubicBezTo>
                  <a:pt x="1704448" y="2196713"/>
                  <a:pt x="1594993" y="2181440"/>
                  <a:pt x="1429700" y="2185214"/>
                </a:cubicBezTo>
                <a:cubicBezTo>
                  <a:pt x="1264407" y="2188988"/>
                  <a:pt x="996967" y="2185405"/>
                  <a:pt x="882684" y="2185214"/>
                </a:cubicBezTo>
                <a:cubicBezTo>
                  <a:pt x="768401" y="2185023"/>
                  <a:pt x="394961" y="2179587"/>
                  <a:pt x="0" y="2185214"/>
                </a:cubicBezTo>
                <a:cubicBezTo>
                  <a:pt x="-6918" y="1949916"/>
                  <a:pt x="-12809" y="1890090"/>
                  <a:pt x="0" y="1704467"/>
                </a:cubicBezTo>
                <a:cubicBezTo>
                  <a:pt x="12809" y="1518844"/>
                  <a:pt x="10280" y="1406343"/>
                  <a:pt x="0" y="1158163"/>
                </a:cubicBezTo>
                <a:cubicBezTo>
                  <a:pt x="-10280" y="909983"/>
                  <a:pt x="22596" y="722989"/>
                  <a:pt x="0" y="568156"/>
                </a:cubicBezTo>
                <a:cubicBezTo>
                  <a:pt x="-22596" y="413323"/>
                  <a:pt x="-12211" y="225285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18198807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>
                    <a:lumMod val="50000"/>
                  </a:schemeClr>
                </a:solidFill>
                <a:latin typeface="Mulish" panose="020B0604020202020204" charset="0"/>
              </a:rPr>
              <a:t>Respuestas</a:t>
            </a:r>
            <a:endParaRPr lang="es-MX" sz="1600" dirty="0">
              <a:solidFill>
                <a:schemeClr val="bg1">
                  <a:lumMod val="50000"/>
                </a:schemeClr>
              </a:solidFill>
              <a:latin typeface="Mulish" panose="020B0604020202020204" charset="0"/>
            </a:endParaRPr>
          </a:p>
          <a:p>
            <a:endParaRPr lang="es-MX" sz="1200" dirty="0">
              <a:latin typeface="Mulish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Mulish" panose="020B0604020202020204" charset="0"/>
              </a:rPr>
              <a:t>Exitosa (200 OK)</a:t>
            </a:r>
            <a:endParaRPr lang="es-MX" sz="1200" dirty="0">
              <a:latin typeface="Mulish" panose="020B0604020202020204" charset="0"/>
            </a:endParaRP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message</a:t>
            </a:r>
            <a:r>
              <a:rPr lang="es-MX" sz="1200" dirty="0">
                <a:latin typeface="Mulish" panose="020B0604020202020204" charset="0"/>
              </a:rPr>
              <a:t>": “La renta de publicó exitosamente“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  <a:p>
            <a:endParaRPr lang="es-MX" sz="1200" dirty="0">
              <a:latin typeface="Mulish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Mulish" panose="020B0604020202020204" charset="0"/>
              </a:rPr>
              <a:t>Si el </a:t>
            </a:r>
            <a:r>
              <a:rPr lang="es-MX" sz="1200" b="1" dirty="0" err="1">
                <a:latin typeface="Mulish" panose="020B0604020202020204" charset="0"/>
              </a:rPr>
              <a:t>arrendatario.id</a:t>
            </a:r>
            <a:r>
              <a:rPr lang="es-MX" sz="1200" b="1" dirty="0">
                <a:latin typeface="Mulish" panose="020B0604020202020204" charset="0"/>
              </a:rPr>
              <a:t> no existe (404 </a:t>
            </a:r>
            <a:r>
              <a:rPr lang="es-MX" sz="1200" b="1" dirty="0" err="1">
                <a:latin typeface="Mulish" panose="020B0604020202020204" charset="0"/>
              </a:rPr>
              <a:t>Not</a:t>
            </a:r>
            <a:r>
              <a:rPr lang="es-MX" sz="1200" b="1" dirty="0">
                <a:latin typeface="Mulish" panose="020B0604020202020204" charset="0"/>
              </a:rPr>
              <a:t> </a:t>
            </a:r>
            <a:r>
              <a:rPr lang="es-MX" sz="1200" b="1" dirty="0" err="1">
                <a:latin typeface="Mulish" panose="020B0604020202020204" charset="0"/>
              </a:rPr>
              <a:t>Found</a:t>
            </a:r>
            <a:r>
              <a:rPr lang="es-MX" sz="1200" b="1" dirty="0">
                <a:latin typeface="Mulish" panose="020B0604020202020204" charset="0"/>
              </a:rPr>
              <a:t>)</a:t>
            </a: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"error": “El arrendatario no existe"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3763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007D2-3CB6-EC97-D660-69EE04243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4A6955D-B8F8-F127-1E1B-A86AB32ECD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12</a:t>
            </a:fld>
            <a:endParaRPr lang="es-MX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31D66985-5E3D-E7B1-C5A7-E5C0A8E69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67" y="399245"/>
            <a:ext cx="3633060" cy="529735"/>
          </a:xfrm>
        </p:spPr>
        <p:txBody>
          <a:bodyPr/>
          <a:lstStyle/>
          <a:p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4. PATCH/rentas/{id} </a:t>
            </a:r>
            <a:endParaRPr lang="es-MX" sz="24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FE7BF2-28BA-7E02-1ED9-F9DDD2B4480E}"/>
              </a:ext>
            </a:extLst>
          </p:cNvPr>
          <p:cNvSpPr txBox="1"/>
          <p:nvPr/>
        </p:nvSpPr>
        <p:spPr>
          <a:xfrm>
            <a:off x="434710" y="1532324"/>
            <a:ext cx="36865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Mulish" panose="020B0604020202020204" charset="0"/>
              </a:rPr>
              <a:t>{</a:t>
            </a:r>
          </a:p>
          <a:p>
            <a:r>
              <a:rPr lang="es-MX" dirty="0">
                <a:latin typeface="Mulish" panose="020B0604020202020204" charset="0"/>
              </a:rPr>
              <a:t>  "general": {</a:t>
            </a:r>
          </a:p>
          <a:p>
            <a:r>
              <a:rPr lang="es-MX" dirty="0">
                <a:latin typeface="Mulish" panose="020B0604020202020204" charset="0"/>
              </a:rPr>
              <a:t>    "disponibilidad": false</a:t>
            </a:r>
          </a:p>
          <a:p>
            <a:r>
              <a:rPr lang="es-MX" dirty="0">
                <a:latin typeface="Mulish" panose="020B0604020202020204" charset="0"/>
              </a:rPr>
              <a:t>},</a:t>
            </a:r>
          </a:p>
          <a:p>
            <a:r>
              <a:rPr lang="es-MX" dirty="0">
                <a:latin typeface="Mulish" panose="020B0604020202020204" charset="0"/>
              </a:rPr>
              <a:t>  "arrendatario": {</a:t>
            </a:r>
          </a:p>
          <a:p>
            <a:r>
              <a:rPr lang="es-MX" dirty="0">
                <a:latin typeface="Mulish" panose="020B0604020202020204" charset="0"/>
              </a:rPr>
              <a:t>    "id": 12</a:t>
            </a:r>
          </a:p>
          <a:p>
            <a:r>
              <a:rPr lang="es-MX" dirty="0">
                <a:latin typeface="Mulish" panose="020B0604020202020204" charset="0"/>
              </a:rPr>
              <a:t>  }</a:t>
            </a:r>
          </a:p>
          <a:p>
            <a:r>
              <a:rPr lang="es-MX" dirty="0">
                <a:latin typeface="Mulish" panose="020B0604020202020204" charset="0"/>
              </a:rPr>
              <a:t>}</a:t>
            </a:r>
          </a:p>
          <a:p>
            <a:endParaRPr lang="es-MX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FCC259-4C30-ECC5-2D81-6B8E3180D6EA}"/>
              </a:ext>
            </a:extLst>
          </p:cNvPr>
          <p:cNvSpPr txBox="1"/>
          <p:nvPr/>
        </p:nvSpPr>
        <p:spPr>
          <a:xfrm>
            <a:off x="404465" y="841188"/>
            <a:ext cx="8335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Modificar una renta por su id, PATCH permite modifica solo ciertos parámetros y no tener que poner todos de nuevo como en PUT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B603B2D-9BC4-A8B5-5C80-ABA2D2999484}"/>
              </a:ext>
            </a:extLst>
          </p:cNvPr>
          <p:cNvSpPr txBox="1"/>
          <p:nvPr/>
        </p:nvSpPr>
        <p:spPr>
          <a:xfrm>
            <a:off x="4571999" y="1364408"/>
            <a:ext cx="4137291" cy="2185214"/>
          </a:xfrm>
          <a:custGeom>
            <a:avLst/>
            <a:gdLst>
              <a:gd name="connsiteX0" fmla="*/ 0 w 4137291"/>
              <a:gd name="connsiteY0" fmla="*/ 0 h 2185214"/>
              <a:gd name="connsiteX1" fmla="*/ 565430 w 4137291"/>
              <a:gd name="connsiteY1" fmla="*/ 0 h 2185214"/>
              <a:gd name="connsiteX2" fmla="*/ 1337724 w 4137291"/>
              <a:gd name="connsiteY2" fmla="*/ 0 h 2185214"/>
              <a:gd name="connsiteX3" fmla="*/ 1985900 w 4137291"/>
              <a:gd name="connsiteY3" fmla="*/ 0 h 2185214"/>
              <a:gd name="connsiteX4" fmla="*/ 2634075 w 4137291"/>
              <a:gd name="connsiteY4" fmla="*/ 0 h 2185214"/>
              <a:gd name="connsiteX5" fmla="*/ 3282251 w 4137291"/>
              <a:gd name="connsiteY5" fmla="*/ 0 h 2185214"/>
              <a:gd name="connsiteX6" fmla="*/ 4137291 w 4137291"/>
              <a:gd name="connsiteY6" fmla="*/ 0 h 2185214"/>
              <a:gd name="connsiteX7" fmla="*/ 4137291 w 4137291"/>
              <a:gd name="connsiteY7" fmla="*/ 480747 h 2185214"/>
              <a:gd name="connsiteX8" fmla="*/ 4137291 w 4137291"/>
              <a:gd name="connsiteY8" fmla="*/ 961494 h 2185214"/>
              <a:gd name="connsiteX9" fmla="*/ 4137291 w 4137291"/>
              <a:gd name="connsiteY9" fmla="*/ 1529650 h 2185214"/>
              <a:gd name="connsiteX10" fmla="*/ 4137291 w 4137291"/>
              <a:gd name="connsiteY10" fmla="*/ 2185214 h 2185214"/>
              <a:gd name="connsiteX11" fmla="*/ 3530488 w 4137291"/>
              <a:gd name="connsiteY11" fmla="*/ 2185214 h 2185214"/>
              <a:gd name="connsiteX12" fmla="*/ 2965059 w 4137291"/>
              <a:gd name="connsiteY12" fmla="*/ 2185214 h 2185214"/>
              <a:gd name="connsiteX13" fmla="*/ 2192764 w 4137291"/>
              <a:gd name="connsiteY13" fmla="*/ 2185214 h 2185214"/>
              <a:gd name="connsiteX14" fmla="*/ 1585962 w 4137291"/>
              <a:gd name="connsiteY14" fmla="*/ 2185214 h 2185214"/>
              <a:gd name="connsiteX15" fmla="*/ 979159 w 4137291"/>
              <a:gd name="connsiteY15" fmla="*/ 2185214 h 2185214"/>
              <a:gd name="connsiteX16" fmla="*/ 0 w 4137291"/>
              <a:gd name="connsiteY16" fmla="*/ 2185214 h 2185214"/>
              <a:gd name="connsiteX17" fmla="*/ 0 w 4137291"/>
              <a:gd name="connsiteY17" fmla="*/ 1704467 h 2185214"/>
              <a:gd name="connsiteX18" fmla="*/ 0 w 4137291"/>
              <a:gd name="connsiteY18" fmla="*/ 1158163 h 2185214"/>
              <a:gd name="connsiteX19" fmla="*/ 0 w 4137291"/>
              <a:gd name="connsiteY19" fmla="*/ 568156 h 2185214"/>
              <a:gd name="connsiteX20" fmla="*/ 0 w 4137291"/>
              <a:gd name="connsiteY20" fmla="*/ 0 h 21852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137291" h="2185214" extrusionOk="0">
                <a:moveTo>
                  <a:pt x="0" y="0"/>
                </a:moveTo>
                <a:cubicBezTo>
                  <a:pt x="197027" y="-4463"/>
                  <a:pt x="300966" y="18796"/>
                  <a:pt x="565430" y="0"/>
                </a:cubicBezTo>
                <a:cubicBezTo>
                  <a:pt x="829894" y="-18796"/>
                  <a:pt x="1058550" y="26961"/>
                  <a:pt x="1337724" y="0"/>
                </a:cubicBezTo>
                <a:cubicBezTo>
                  <a:pt x="1616898" y="-26961"/>
                  <a:pt x="1840013" y="-24975"/>
                  <a:pt x="1985900" y="0"/>
                </a:cubicBezTo>
                <a:cubicBezTo>
                  <a:pt x="2131787" y="24975"/>
                  <a:pt x="2360837" y="12609"/>
                  <a:pt x="2634075" y="0"/>
                </a:cubicBezTo>
                <a:cubicBezTo>
                  <a:pt x="2907314" y="-12609"/>
                  <a:pt x="2982574" y="659"/>
                  <a:pt x="3282251" y="0"/>
                </a:cubicBezTo>
                <a:cubicBezTo>
                  <a:pt x="3581928" y="-659"/>
                  <a:pt x="3873494" y="-473"/>
                  <a:pt x="4137291" y="0"/>
                </a:cubicBezTo>
                <a:cubicBezTo>
                  <a:pt x="4118906" y="162189"/>
                  <a:pt x="4155673" y="316466"/>
                  <a:pt x="4137291" y="480747"/>
                </a:cubicBezTo>
                <a:cubicBezTo>
                  <a:pt x="4118909" y="645028"/>
                  <a:pt x="4115184" y="820984"/>
                  <a:pt x="4137291" y="961494"/>
                </a:cubicBezTo>
                <a:cubicBezTo>
                  <a:pt x="4159398" y="1102004"/>
                  <a:pt x="4109297" y="1396881"/>
                  <a:pt x="4137291" y="1529650"/>
                </a:cubicBezTo>
                <a:cubicBezTo>
                  <a:pt x="4165285" y="1662419"/>
                  <a:pt x="4111381" y="1965575"/>
                  <a:pt x="4137291" y="2185214"/>
                </a:cubicBezTo>
                <a:cubicBezTo>
                  <a:pt x="3957929" y="2196094"/>
                  <a:pt x="3815275" y="2158787"/>
                  <a:pt x="3530488" y="2185214"/>
                </a:cubicBezTo>
                <a:cubicBezTo>
                  <a:pt x="3245701" y="2211641"/>
                  <a:pt x="3183252" y="2201317"/>
                  <a:pt x="2965059" y="2185214"/>
                </a:cubicBezTo>
                <a:cubicBezTo>
                  <a:pt x="2746866" y="2169111"/>
                  <a:pt x="2430083" y="2149770"/>
                  <a:pt x="2192764" y="2185214"/>
                </a:cubicBezTo>
                <a:cubicBezTo>
                  <a:pt x="1955446" y="2220658"/>
                  <a:pt x="1740842" y="2174856"/>
                  <a:pt x="1585962" y="2185214"/>
                </a:cubicBezTo>
                <a:cubicBezTo>
                  <a:pt x="1431082" y="2195572"/>
                  <a:pt x="1167564" y="2194697"/>
                  <a:pt x="979159" y="2185214"/>
                </a:cubicBezTo>
                <a:cubicBezTo>
                  <a:pt x="790754" y="2175731"/>
                  <a:pt x="469059" y="2161104"/>
                  <a:pt x="0" y="2185214"/>
                </a:cubicBezTo>
                <a:cubicBezTo>
                  <a:pt x="-6918" y="1949916"/>
                  <a:pt x="-12809" y="1890090"/>
                  <a:pt x="0" y="1704467"/>
                </a:cubicBezTo>
                <a:cubicBezTo>
                  <a:pt x="12809" y="1518844"/>
                  <a:pt x="10280" y="1406343"/>
                  <a:pt x="0" y="1158163"/>
                </a:cubicBezTo>
                <a:cubicBezTo>
                  <a:pt x="-10280" y="909983"/>
                  <a:pt x="22596" y="722989"/>
                  <a:pt x="0" y="568156"/>
                </a:cubicBezTo>
                <a:cubicBezTo>
                  <a:pt x="-22596" y="413323"/>
                  <a:pt x="-12211" y="225285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18198807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>
                    <a:lumMod val="50000"/>
                  </a:schemeClr>
                </a:solidFill>
                <a:latin typeface="Mulish" panose="020B0604020202020204" charset="0"/>
              </a:rPr>
              <a:t>Respuestas</a:t>
            </a:r>
            <a:endParaRPr lang="es-MX" sz="1600" dirty="0">
              <a:solidFill>
                <a:schemeClr val="bg1">
                  <a:lumMod val="50000"/>
                </a:schemeClr>
              </a:solidFill>
              <a:latin typeface="Mulish" panose="020B0604020202020204" charset="0"/>
            </a:endParaRPr>
          </a:p>
          <a:p>
            <a:endParaRPr lang="es-MX" sz="1200" dirty="0">
              <a:latin typeface="Mulish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Mulish" panose="020B0604020202020204" charset="0"/>
              </a:rPr>
              <a:t>Exitosa (200 OK)</a:t>
            </a:r>
            <a:endParaRPr lang="es-MX" sz="1200" dirty="0">
              <a:latin typeface="Mulish" panose="020B0604020202020204" charset="0"/>
            </a:endParaRP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message</a:t>
            </a:r>
            <a:r>
              <a:rPr lang="es-MX" sz="1200" dirty="0">
                <a:latin typeface="Mulish" panose="020B0604020202020204" charset="0"/>
              </a:rPr>
              <a:t>": “La renta se ha modificado exitosamente“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  <a:p>
            <a:endParaRPr lang="es-MX" sz="1200" dirty="0">
              <a:latin typeface="Mulish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Mulish" panose="020B0604020202020204" charset="0"/>
              </a:rPr>
              <a:t>Si el </a:t>
            </a:r>
            <a:r>
              <a:rPr lang="es-MX" sz="1200" b="1" dirty="0" err="1">
                <a:latin typeface="Mulish" panose="020B0604020202020204" charset="0"/>
              </a:rPr>
              <a:t>arrendatario.id</a:t>
            </a:r>
            <a:r>
              <a:rPr lang="es-MX" sz="1200" b="1" dirty="0">
                <a:latin typeface="Mulish" panose="020B0604020202020204" charset="0"/>
              </a:rPr>
              <a:t> no existe (404 </a:t>
            </a:r>
            <a:r>
              <a:rPr lang="es-MX" sz="1200" b="1" dirty="0" err="1">
                <a:latin typeface="Mulish" panose="020B0604020202020204" charset="0"/>
              </a:rPr>
              <a:t>Not</a:t>
            </a:r>
            <a:r>
              <a:rPr lang="es-MX" sz="1200" b="1" dirty="0">
                <a:latin typeface="Mulish" panose="020B0604020202020204" charset="0"/>
              </a:rPr>
              <a:t> </a:t>
            </a:r>
            <a:r>
              <a:rPr lang="es-MX" sz="1200" b="1" dirty="0" err="1">
                <a:latin typeface="Mulish" panose="020B0604020202020204" charset="0"/>
              </a:rPr>
              <a:t>Found</a:t>
            </a:r>
            <a:r>
              <a:rPr lang="es-MX" sz="1200" b="1" dirty="0">
                <a:latin typeface="Mulish" panose="020B0604020202020204" charset="0"/>
              </a:rPr>
              <a:t>)</a:t>
            </a: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"error": “El arrendatario no existe"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3046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53987-CFBA-9471-C74D-049A1CA7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14F7282-29A5-4044-D255-E5CCE3B801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13</a:t>
            </a:fld>
            <a:endParaRPr lang="es-MX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F7BAD00-460F-DDA3-D8D3-0C78E2675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67" y="399245"/>
            <a:ext cx="4167534" cy="529735"/>
          </a:xfrm>
        </p:spPr>
        <p:txBody>
          <a:bodyPr/>
          <a:lstStyle/>
          <a:p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5. POST /arrendatarios</a:t>
            </a:r>
            <a:endParaRPr lang="es-MX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865C010-C05B-0750-E960-F28A4532E2E6}"/>
              </a:ext>
            </a:extLst>
          </p:cNvPr>
          <p:cNvSpPr txBox="1"/>
          <p:nvPr/>
        </p:nvSpPr>
        <p:spPr>
          <a:xfrm>
            <a:off x="404466" y="1130670"/>
            <a:ext cx="39485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"nombre": "Laura Gómez",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telefono</a:t>
            </a:r>
            <a:r>
              <a:rPr lang="es-MX" sz="1200" dirty="0">
                <a:latin typeface="Mulish" panose="020B0604020202020204" charset="0"/>
              </a:rPr>
              <a:t>": "555-234-5678",</a:t>
            </a:r>
          </a:p>
          <a:p>
            <a:r>
              <a:rPr lang="es-MX" sz="1200" dirty="0">
                <a:latin typeface="Mulish" panose="020B0604020202020204" charset="0"/>
              </a:rPr>
              <a:t>  "correo": "laura.gomez@example.com",</a:t>
            </a:r>
          </a:p>
          <a:p>
            <a:r>
              <a:rPr lang="es-MX" sz="1200" dirty="0">
                <a:latin typeface="Mulish" panose="020B0604020202020204" charset="0"/>
              </a:rPr>
              <a:t>  "activo": true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B8AEEC4-AC82-9814-97C5-CB309767253E}"/>
              </a:ext>
            </a:extLst>
          </p:cNvPr>
          <p:cNvSpPr txBox="1"/>
          <p:nvPr/>
        </p:nvSpPr>
        <p:spPr>
          <a:xfrm>
            <a:off x="404466" y="822893"/>
            <a:ext cx="61053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Crear un arrendatario</a:t>
            </a:r>
          </a:p>
        </p:txBody>
      </p:sp>
      <p:sp>
        <p:nvSpPr>
          <p:cNvPr id="6" name="Título 2">
            <a:extLst>
              <a:ext uri="{FF2B5EF4-FFF2-40B4-BE49-F238E27FC236}">
                <a16:creationId xmlns:a16="http://schemas.microsoft.com/office/drawing/2014/main" id="{ABCEF31B-48E9-0CA5-3953-0CCC8956AAFF}"/>
              </a:ext>
            </a:extLst>
          </p:cNvPr>
          <p:cNvSpPr txBox="1">
            <a:spLocks/>
          </p:cNvSpPr>
          <p:nvPr/>
        </p:nvSpPr>
        <p:spPr>
          <a:xfrm>
            <a:off x="312167" y="2387029"/>
            <a:ext cx="4369306" cy="529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es-MX" sz="23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6. PATCH /arrendatarios/{id}</a:t>
            </a:r>
            <a:endParaRPr lang="es-MX" sz="23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D400E00-5840-2A9C-0E93-FF20E64D02C7}"/>
              </a:ext>
            </a:extLst>
          </p:cNvPr>
          <p:cNvSpPr txBox="1"/>
          <p:nvPr/>
        </p:nvSpPr>
        <p:spPr>
          <a:xfrm>
            <a:off x="404466" y="2860734"/>
            <a:ext cx="38412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Modificar un arrendatario por su id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4BD8944-4311-EC32-3C3B-176E0C7A6AFF}"/>
              </a:ext>
            </a:extLst>
          </p:cNvPr>
          <p:cNvSpPr txBox="1"/>
          <p:nvPr/>
        </p:nvSpPr>
        <p:spPr>
          <a:xfrm>
            <a:off x="404466" y="3208162"/>
            <a:ext cx="39485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"activo": false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D310662-D8E2-6312-0590-4BDBA6F0C08C}"/>
              </a:ext>
            </a:extLst>
          </p:cNvPr>
          <p:cNvSpPr txBox="1"/>
          <p:nvPr/>
        </p:nvSpPr>
        <p:spPr>
          <a:xfrm>
            <a:off x="4681473" y="822893"/>
            <a:ext cx="3760628" cy="1299269"/>
          </a:xfrm>
          <a:custGeom>
            <a:avLst/>
            <a:gdLst>
              <a:gd name="connsiteX0" fmla="*/ 0 w 3760628"/>
              <a:gd name="connsiteY0" fmla="*/ 0 h 1299269"/>
              <a:gd name="connsiteX1" fmla="*/ 513952 w 3760628"/>
              <a:gd name="connsiteY1" fmla="*/ 0 h 1299269"/>
              <a:gd name="connsiteX2" fmla="*/ 1215936 w 3760628"/>
              <a:gd name="connsiteY2" fmla="*/ 0 h 1299269"/>
              <a:gd name="connsiteX3" fmla="*/ 1805101 w 3760628"/>
              <a:gd name="connsiteY3" fmla="*/ 0 h 1299269"/>
              <a:gd name="connsiteX4" fmla="*/ 2394266 w 3760628"/>
              <a:gd name="connsiteY4" fmla="*/ 0 h 1299269"/>
              <a:gd name="connsiteX5" fmla="*/ 2983432 w 3760628"/>
              <a:gd name="connsiteY5" fmla="*/ 0 h 1299269"/>
              <a:gd name="connsiteX6" fmla="*/ 3760628 w 3760628"/>
              <a:gd name="connsiteY6" fmla="*/ 0 h 1299269"/>
              <a:gd name="connsiteX7" fmla="*/ 3760628 w 3760628"/>
              <a:gd name="connsiteY7" fmla="*/ 610656 h 1299269"/>
              <a:gd name="connsiteX8" fmla="*/ 3760628 w 3760628"/>
              <a:gd name="connsiteY8" fmla="*/ 1299269 h 1299269"/>
              <a:gd name="connsiteX9" fmla="*/ 3096250 w 3760628"/>
              <a:gd name="connsiteY9" fmla="*/ 1299269 h 1299269"/>
              <a:gd name="connsiteX10" fmla="*/ 2469479 w 3760628"/>
              <a:gd name="connsiteY10" fmla="*/ 1299269 h 1299269"/>
              <a:gd name="connsiteX11" fmla="*/ 1917920 w 3760628"/>
              <a:gd name="connsiteY11" fmla="*/ 1299269 h 1299269"/>
              <a:gd name="connsiteX12" fmla="*/ 1403968 w 3760628"/>
              <a:gd name="connsiteY12" fmla="*/ 1299269 h 1299269"/>
              <a:gd name="connsiteX13" fmla="*/ 701984 w 3760628"/>
              <a:gd name="connsiteY13" fmla="*/ 1299269 h 1299269"/>
              <a:gd name="connsiteX14" fmla="*/ 0 w 3760628"/>
              <a:gd name="connsiteY14" fmla="*/ 1299269 h 1299269"/>
              <a:gd name="connsiteX15" fmla="*/ 0 w 3760628"/>
              <a:gd name="connsiteY15" fmla="*/ 675620 h 1299269"/>
              <a:gd name="connsiteX16" fmla="*/ 0 w 3760628"/>
              <a:gd name="connsiteY16" fmla="*/ 0 h 1299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760628" h="1299269" extrusionOk="0">
                <a:moveTo>
                  <a:pt x="0" y="0"/>
                </a:moveTo>
                <a:cubicBezTo>
                  <a:pt x="157757" y="-2852"/>
                  <a:pt x="321768" y="-14403"/>
                  <a:pt x="513952" y="0"/>
                </a:cubicBezTo>
                <a:cubicBezTo>
                  <a:pt x="706136" y="14403"/>
                  <a:pt x="945626" y="-454"/>
                  <a:pt x="1215936" y="0"/>
                </a:cubicBezTo>
                <a:cubicBezTo>
                  <a:pt x="1486246" y="454"/>
                  <a:pt x="1591823" y="5333"/>
                  <a:pt x="1805101" y="0"/>
                </a:cubicBezTo>
                <a:cubicBezTo>
                  <a:pt x="2018380" y="-5333"/>
                  <a:pt x="2251869" y="28104"/>
                  <a:pt x="2394266" y="0"/>
                </a:cubicBezTo>
                <a:cubicBezTo>
                  <a:pt x="2536664" y="-28104"/>
                  <a:pt x="2699135" y="12436"/>
                  <a:pt x="2983432" y="0"/>
                </a:cubicBezTo>
                <a:cubicBezTo>
                  <a:pt x="3267729" y="-12436"/>
                  <a:pt x="3557206" y="30784"/>
                  <a:pt x="3760628" y="0"/>
                </a:cubicBezTo>
                <a:cubicBezTo>
                  <a:pt x="3739613" y="235361"/>
                  <a:pt x="3778120" y="392855"/>
                  <a:pt x="3760628" y="610656"/>
                </a:cubicBezTo>
                <a:cubicBezTo>
                  <a:pt x="3743136" y="828457"/>
                  <a:pt x="3776133" y="955464"/>
                  <a:pt x="3760628" y="1299269"/>
                </a:cubicBezTo>
                <a:cubicBezTo>
                  <a:pt x="3565402" y="1301002"/>
                  <a:pt x="3347841" y="1303634"/>
                  <a:pt x="3096250" y="1299269"/>
                </a:cubicBezTo>
                <a:cubicBezTo>
                  <a:pt x="2844659" y="1294904"/>
                  <a:pt x="2619653" y="1294554"/>
                  <a:pt x="2469479" y="1299269"/>
                </a:cubicBezTo>
                <a:cubicBezTo>
                  <a:pt x="2319305" y="1303984"/>
                  <a:pt x="2149515" y="1288281"/>
                  <a:pt x="1917920" y="1299269"/>
                </a:cubicBezTo>
                <a:cubicBezTo>
                  <a:pt x="1686325" y="1310257"/>
                  <a:pt x="1507066" y="1277314"/>
                  <a:pt x="1403968" y="1299269"/>
                </a:cubicBezTo>
                <a:cubicBezTo>
                  <a:pt x="1300870" y="1321224"/>
                  <a:pt x="982977" y="1308533"/>
                  <a:pt x="701984" y="1299269"/>
                </a:cubicBezTo>
                <a:cubicBezTo>
                  <a:pt x="420991" y="1290005"/>
                  <a:pt x="330715" y="1298040"/>
                  <a:pt x="0" y="1299269"/>
                </a:cubicBezTo>
                <a:cubicBezTo>
                  <a:pt x="-22" y="1059702"/>
                  <a:pt x="23990" y="940257"/>
                  <a:pt x="0" y="675620"/>
                </a:cubicBezTo>
                <a:cubicBezTo>
                  <a:pt x="-23990" y="410983"/>
                  <a:pt x="-6715" y="179276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18198807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>
                    <a:lumMod val="50000"/>
                  </a:schemeClr>
                </a:solidFill>
                <a:latin typeface="Mulish" panose="020B0604020202020204" charset="0"/>
              </a:rPr>
              <a:t>Respuestas</a:t>
            </a:r>
            <a:endParaRPr lang="es-MX" sz="1600" dirty="0">
              <a:solidFill>
                <a:schemeClr val="bg1">
                  <a:lumMod val="50000"/>
                </a:schemeClr>
              </a:solidFill>
              <a:latin typeface="Mulish" panose="020B0604020202020204" charset="0"/>
            </a:endParaRPr>
          </a:p>
          <a:p>
            <a:endParaRPr lang="es-MX" sz="1200" dirty="0">
              <a:latin typeface="Mulish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Mulish" panose="020B0604020202020204" charset="0"/>
              </a:rPr>
              <a:t>Exitosa (200 OK)</a:t>
            </a:r>
            <a:endParaRPr lang="es-MX" sz="1200" dirty="0">
              <a:latin typeface="Mulish" panose="020B0604020202020204" charset="0"/>
            </a:endParaRP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message</a:t>
            </a:r>
            <a:r>
              <a:rPr lang="es-MX" sz="1200" dirty="0">
                <a:latin typeface="Mulish" panose="020B0604020202020204" charset="0"/>
              </a:rPr>
              <a:t>": “Arrendatario creado exitosamente"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CAFF072-8792-3A1C-C723-9A9E0E6AA07F}"/>
              </a:ext>
            </a:extLst>
          </p:cNvPr>
          <p:cNvSpPr txBox="1"/>
          <p:nvPr/>
        </p:nvSpPr>
        <p:spPr>
          <a:xfrm>
            <a:off x="4681473" y="2330999"/>
            <a:ext cx="3729651" cy="2369880"/>
          </a:xfrm>
          <a:custGeom>
            <a:avLst/>
            <a:gdLst>
              <a:gd name="connsiteX0" fmla="*/ 0 w 3729651"/>
              <a:gd name="connsiteY0" fmla="*/ 0 h 2369880"/>
              <a:gd name="connsiteX1" fmla="*/ 509719 w 3729651"/>
              <a:gd name="connsiteY1" fmla="*/ 0 h 2369880"/>
              <a:gd name="connsiteX2" fmla="*/ 1205920 w 3729651"/>
              <a:gd name="connsiteY2" fmla="*/ 0 h 2369880"/>
              <a:gd name="connsiteX3" fmla="*/ 1790232 w 3729651"/>
              <a:gd name="connsiteY3" fmla="*/ 0 h 2369880"/>
              <a:gd name="connsiteX4" fmla="*/ 2374544 w 3729651"/>
              <a:gd name="connsiteY4" fmla="*/ 0 h 2369880"/>
              <a:gd name="connsiteX5" fmla="*/ 2958856 w 3729651"/>
              <a:gd name="connsiteY5" fmla="*/ 0 h 2369880"/>
              <a:gd name="connsiteX6" fmla="*/ 3729651 w 3729651"/>
              <a:gd name="connsiteY6" fmla="*/ 0 h 2369880"/>
              <a:gd name="connsiteX7" fmla="*/ 3729651 w 3729651"/>
              <a:gd name="connsiteY7" fmla="*/ 521374 h 2369880"/>
              <a:gd name="connsiteX8" fmla="*/ 3729651 w 3729651"/>
              <a:gd name="connsiteY8" fmla="*/ 1042747 h 2369880"/>
              <a:gd name="connsiteX9" fmla="*/ 3729651 w 3729651"/>
              <a:gd name="connsiteY9" fmla="*/ 1658916 h 2369880"/>
              <a:gd name="connsiteX10" fmla="*/ 3729651 w 3729651"/>
              <a:gd name="connsiteY10" fmla="*/ 2369880 h 2369880"/>
              <a:gd name="connsiteX11" fmla="*/ 3182636 w 3729651"/>
              <a:gd name="connsiteY11" fmla="*/ 2369880 h 2369880"/>
              <a:gd name="connsiteX12" fmla="*/ 2672917 w 3729651"/>
              <a:gd name="connsiteY12" fmla="*/ 2369880 h 2369880"/>
              <a:gd name="connsiteX13" fmla="*/ 1976715 w 3729651"/>
              <a:gd name="connsiteY13" fmla="*/ 2369880 h 2369880"/>
              <a:gd name="connsiteX14" fmla="*/ 1429700 w 3729651"/>
              <a:gd name="connsiteY14" fmla="*/ 2369880 h 2369880"/>
              <a:gd name="connsiteX15" fmla="*/ 882684 w 3729651"/>
              <a:gd name="connsiteY15" fmla="*/ 2369880 h 2369880"/>
              <a:gd name="connsiteX16" fmla="*/ 0 w 3729651"/>
              <a:gd name="connsiteY16" fmla="*/ 2369880 h 2369880"/>
              <a:gd name="connsiteX17" fmla="*/ 0 w 3729651"/>
              <a:gd name="connsiteY17" fmla="*/ 1848506 h 2369880"/>
              <a:gd name="connsiteX18" fmla="*/ 0 w 3729651"/>
              <a:gd name="connsiteY18" fmla="*/ 1256036 h 2369880"/>
              <a:gd name="connsiteX19" fmla="*/ 0 w 3729651"/>
              <a:gd name="connsiteY19" fmla="*/ 616169 h 2369880"/>
              <a:gd name="connsiteX20" fmla="*/ 0 w 3729651"/>
              <a:gd name="connsiteY20" fmla="*/ 0 h 2369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29651" h="2369880" extrusionOk="0">
                <a:moveTo>
                  <a:pt x="0" y="0"/>
                </a:moveTo>
                <a:cubicBezTo>
                  <a:pt x="121996" y="-1004"/>
                  <a:pt x="282777" y="-12994"/>
                  <a:pt x="509719" y="0"/>
                </a:cubicBezTo>
                <a:cubicBezTo>
                  <a:pt x="736661" y="12994"/>
                  <a:pt x="910380" y="-32828"/>
                  <a:pt x="1205920" y="0"/>
                </a:cubicBezTo>
                <a:cubicBezTo>
                  <a:pt x="1501460" y="32828"/>
                  <a:pt x="1530084" y="-7894"/>
                  <a:pt x="1790232" y="0"/>
                </a:cubicBezTo>
                <a:cubicBezTo>
                  <a:pt x="2050380" y="7894"/>
                  <a:pt x="2102277" y="18845"/>
                  <a:pt x="2374544" y="0"/>
                </a:cubicBezTo>
                <a:cubicBezTo>
                  <a:pt x="2646811" y="-18845"/>
                  <a:pt x="2805436" y="-1274"/>
                  <a:pt x="2958856" y="0"/>
                </a:cubicBezTo>
                <a:cubicBezTo>
                  <a:pt x="3112276" y="1274"/>
                  <a:pt x="3570114" y="34897"/>
                  <a:pt x="3729651" y="0"/>
                </a:cubicBezTo>
                <a:cubicBezTo>
                  <a:pt x="3719389" y="224254"/>
                  <a:pt x="3721925" y="356029"/>
                  <a:pt x="3729651" y="521374"/>
                </a:cubicBezTo>
                <a:cubicBezTo>
                  <a:pt x="3737377" y="686719"/>
                  <a:pt x="3704151" y="849179"/>
                  <a:pt x="3729651" y="1042747"/>
                </a:cubicBezTo>
                <a:cubicBezTo>
                  <a:pt x="3755151" y="1236315"/>
                  <a:pt x="3705596" y="1476015"/>
                  <a:pt x="3729651" y="1658916"/>
                </a:cubicBezTo>
                <a:cubicBezTo>
                  <a:pt x="3753706" y="1841817"/>
                  <a:pt x="3749517" y="2047893"/>
                  <a:pt x="3729651" y="2369880"/>
                </a:cubicBezTo>
                <a:cubicBezTo>
                  <a:pt x="3515602" y="2380077"/>
                  <a:pt x="3352866" y="2372785"/>
                  <a:pt x="3182636" y="2369880"/>
                </a:cubicBezTo>
                <a:cubicBezTo>
                  <a:pt x="3012406" y="2366975"/>
                  <a:pt x="2870102" y="2394631"/>
                  <a:pt x="2672917" y="2369880"/>
                </a:cubicBezTo>
                <a:cubicBezTo>
                  <a:pt x="2475732" y="2345129"/>
                  <a:pt x="2248982" y="2358381"/>
                  <a:pt x="1976715" y="2369880"/>
                </a:cubicBezTo>
                <a:cubicBezTo>
                  <a:pt x="1704448" y="2381379"/>
                  <a:pt x="1594993" y="2366106"/>
                  <a:pt x="1429700" y="2369880"/>
                </a:cubicBezTo>
                <a:cubicBezTo>
                  <a:pt x="1264407" y="2373654"/>
                  <a:pt x="996967" y="2370071"/>
                  <a:pt x="882684" y="2369880"/>
                </a:cubicBezTo>
                <a:cubicBezTo>
                  <a:pt x="768401" y="2369689"/>
                  <a:pt x="394961" y="2364253"/>
                  <a:pt x="0" y="2369880"/>
                </a:cubicBezTo>
                <a:cubicBezTo>
                  <a:pt x="-6354" y="2166722"/>
                  <a:pt x="25644" y="2009840"/>
                  <a:pt x="0" y="1848506"/>
                </a:cubicBezTo>
                <a:cubicBezTo>
                  <a:pt x="-25644" y="1687172"/>
                  <a:pt x="29318" y="1452004"/>
                  <a:pt x="0" y="1256036"/>
                </a:cubicBezTo>
                <a:cubicBezTo>
                  <a:pt x="-29318" y="1060068"/>
                  <a:pt x="-21903" y="843154"/>
                  <a:pt x="0" y="616169"/>
                </a:cubicBezTo>
                <a:cubicBezTo>
                  <a:pt x="21903" y="389184"/>
                  <a:pt x="-25389" y="185304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18198807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>
                    <a:lumMod val="50000"/>
                  </a:schemeClr>
                </a:solidFill>
                <a:latin typeface="Mulish" panose="020B0604020202020204" charset="0"/>
              </a:rPr>
              <a:t>Respuestas</a:t>
            </a:r>
            <a:endParaRPr lang="es-MX" sz="1600" dirty="0">
              <a:solidFill>
                <a:schemeClr val="bg1">
                  <a:lumMod val="50000"/>
                </a:schemeClr>
              </a:solidFill>
              <a:latin typeface="Mulish" panose="020B0604020202020204" charset="0"/>
            </a:endParaRPr>
          </a:p>
          <a:p>
            <a:endParaRPr lang="es-MX" sz="1200" dirty="0">
              <a:latin typeface="Mulish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Mulish" panose="020B0604020202020204" charset="0"/>
              </a:rPr>
              <a:t>Exitosa (200 OK)</a:t>
            </a:r>
            <a:endParaRPr lang="es-MX" sz="1200" dirty="0">
              <a:latin typeface="Mulish" panose="020B0604020202020204" charset="0"/>
            </a:endParaRP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message</a:t>
            </a:r>
            <a:r>
              <a:rPr lang="es-MX" sz="1200" dirty="0">
                <a:latin typeface="Mulish" panose="020B0604020202020204" charset="0"/>
              </a:rPr>
              <a:t>": “El arrendatario se modificó exitosamente“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  <a:p>
            <a:endParaRPr lang="es-MX" sz="1200" dirty="0">
              <a:latin typeface="Mulish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Mulish" panose="020B0604020202020204" charset="0"/>
              </a:rPr>
              <a:t>Si el </a:t>
            </a:r>
            <a:r>
              <a:rPr lang="es-MX" sz="1200" b="1" dirty="0" err="1">
                <a:latin typeface="Mulish" panose="020B0604020202020204" charset="0"/>
              </a:rPr>
              <a:t>arrendatario.id</a:t>
            </a:r>
            <a:r>
              <a:rPr lang="es-MX" sz="1200" b="1" dirty="0">
                <a:latin typeface="Mulish" panose="020B0604020202020204" charset="0"/>
              </a:rPr>
              <a:t> no existe (404 </a:t>
            </a:r>
            <a:r>
              <a:rPr lang="es-MX" sz="1200" b="1" dirty="0" err="1">
                <a:latin typeface="Mulish" panose="020B0604020202020204" charset="0"/>
              </a:rPr>
              <a:t>Not</a:t>
            </a:r>
            <a:r>
              <a:rPr lang="es-MX" sz="1200" b="1" dirty="0">
                <a:latin typeface="Mulish" panose="020B0604020202020204" charset="0"/>
              </a:rPr>
              <a:t> </a:t>
            </a:r>
            <a:r>
              <a:rPr lang="es-MX" sz="1200" b="1" dirty="0" err="1">
                <a:latin typeface="Mulish" panose="020B0604020202020204" charset="0"/>
              </a:rPr>
              <a:t>Found</a:t>
            </a:r>
            <a:r>
              <a:rPr lang="es-MX" sz="1200" b="1" dirty="0">
                <a:latin typeface="Mulish" panose="020B0604020202020204" charset="0"/>
              </a:rPr>
              <a:t>)</a:t>
            </a: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"error": “El arrendatario no existe"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58430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36518-6E3E-E95D-1899-77898453A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4AA232F-EBB6-6CD1-531F-5DBAA0BA88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14</a:t>
            </a:fld>
            <a:endParaRPr lang="es-MX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A04C329-7F71-E098-37D4-3EFDF46C9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466" y="399245"/>
            <a:ext cx="6608079" cy="529735"/>
          </a:xfrm>
        </p:spPr>
        <p:txBody>
          <a:bodyPr/>
          <a:lstStyle/>
          <a:p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7. GET /historial</a:t>
            </a:r>
            <a:endParaRPr lang="es-MX" sz="24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99AD415-DE74-18FC-0237-3B1EB9870B41}"/>
              </a:ext>
            </a:extLst>
          </p:cNvPr>
          <p:cNvSpPr txBox="1"/>
          <p:nvPr/>
        </p:nvSpPr>
        <p:spPr>
          <a:xfrm>
            <a:off x="404466" y="1130670"/>
            <a:ext cx="291828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Mulish" panose="020B0604020202020204" charset="0"/>
              </a:rPr>
              <a:t>[</a:t>
            </a:r>
          </a:p>
          <a:p>
            <a:r>
              <a:rPr lang="es-MX" sz="1200" dirty="0">
                <a:latin typeface="Mulish" panose="020B0604020202020204" charset="0"/>
              </a:rPr>
              <a:t>  {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id_renta</a:t>
            </a:r>
            <a:r>
              <a:rPr lang="es-MX" sz="1200" dirty="0">
                <a:latin typeface="Mulish" panose="020B0604020202020204" charset="0"/>
              </a:rPr>
              <a:t>": 101,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fecha_inicio</a:t>
            </a:r>
            <a:r>
              <a:rPr lang="es-MX" sz="1200" dirty="0">
                <a:latin typeface="Mulish" panose="020B0604020202020204" charset="0"/>
              </a:rPr>
              <a:t>": "2025-01-01",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fecha_fin</a:t>
            </a:r>
            <a:r>
              <a:rPr lang="es-MX" sz="1200" dirty="0">
                <a:latin typeface="Mulish" panose="020B0604020202020204" charset="0"/>
              </a:rPr>
              <a:t>": "2025-03-31“,</a:t>
            </a:r>
          </a:p>
          <a:p>
            <a:r>
              <a:rPr lang="es-MX" sz="1200" dirty="0">
                <a:latin typeface="Mulish" panose="020B0604020202020204" charset="0"/>
              </a:rPr>
              <a:t>    “precio”: 8,000</a:t>
            </a:r>
          </a:p>
          <a:p>
            <a:r>
              <a:rPr lang="es-MX" sz="1200" dirty="0">
                <a:latin typeface="Mulish" panose="020B0604020202020204" charset="0"/>
              </a:rPr>
              <a:t>},</a:t>
            </a:r>
          </a:p>
          <a:p>
            <a:r>
              <a:rPr lang="es-MX" sz="1200" dirty="0">
                <a:latin typeface="Mulish" panose="020B0604020202020204" charset="0"/>
              </a:rPr>
              <a:t>  {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id_renta</a:t>
            </a:r>
            <a:r>
              <a:rPr lang="es-MX" sz="1200" dirty="0">
                <a:latin typeface="Mulish" panose="020B0604020202020204" charset="0"/>
              </a:rPr>
              <a:t>": 102,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fecha_inicio</a:t>
            </a:r>
            <a:r>
              <a:rPr lang="es-MX" sz="1200" dirty="0">
                <a:latin typeface="Mulish" panose="020B0604020202020204" charset="0"/>
              </a:rPr>
              <a:t>": "2025-04-01",</a:t>
            </a:r>
          </a:p>
          <a:p>
            <a:r>
              <a:rPr lang="es-MX" sz="1200" dirty="0">
                <a:latin typeface="Mulish" panose="020B0604020202020204" charset="0"/>
              </a:rPr>
              <a:t>    "</a:t>
            </a:r>
            <a:r>
              <a:rPr lang="es-MX" sz="1200" dirty="0" err="1">
                <a:latin typeface="Mulish" panose="020B0604020202020204" charset="0"/>
              </a:rPr>
              <a:t>fecha_fin</a:t>
            </a:r>
            <a:r>
              <a:rPr lang="es-MX" sz="1200" dirty="0">
                <a:latin typeface="Mulish" panose="020B0604020202020204" charset="0"/>
              </a:rPr>
              <a:t>": “2025-04-31” ,</a:t>
            </a:r>
          </a:p>
          <a:p>
            <a:r>
              <a:rPr lang="es-MX" sz="1200" dirty="0">
                <a:latin typeface="Mulish" panose="020B0604020202020204" charset="0"/>
              </a:rPr>
              <a:t>    “precio”: 12,000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  <a:p>
            <a:r>
              <a:rPr lang="es-MX" sz="1200" dirty="0">
                <a:latin typeface="Mulish" panose="020B0604020202020204" charset="0"/>
              </a:rPr>
              <a:t>]</a:t>
            </a:r>
          </a:p>
          <a:p>
            <a:endParaRPr lang="es-MX" sz="1200" dirty="0">
              <a:latin typeface="Mulish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D0A5B0C-83FB-6088-A015-EB103BF07A12}"/>
              </a:ext>
            </a:extLst>
          </p:cNvPr>
          <p:cNvSpPr txBox="1"/>
          <p:nvPr/>
        </p:nvSpPr>
        <p:spPr>
          <a:xfrm>
            <a:off x="404465" y="875937"/>
            <a:ext cx="4037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Lista todo el historial de rentas</a:t>
            </a:r>
          </a:p>
        </p:txBody>
      </p:sp>
      <p:sp>
        <p:nvSpPr>
          <p:cNvPr id="12" name="Título 2">
            <a:extLst>
              <a:ext uri="{FF2B5EF4-FFF2-40B4-BE49-F238E27FC236}">
                <a16:creationId xmlns:a16="http://schemas.microsoft.com/office/drawing/2014/main" id="{E44DEFDF-E497-78EE-3C85-1E3DE3221D1E}"/>
              </a:ext>
            </a:extLst>
          </p:cNvPr>
          <p:cNvSpPr txBox="1">
            <a:spLocks/>
          </p:cNvSpPr>
          <p:nvPr/>
        </p:nvSpPr>
        <p:spPr>
          <a:xfrm>
            <a:off x="4847782" y="346202"/>
            <a:ext cx="4090155" cy="529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es-MX" sz="23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8. GET /historial/{</a:t>
            </a:r>
            <a:r>
              <a:rPr lang="es-MX" sz="2300" dirty="0" err="1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renta.id</a:t>
            </a:r>
            <a:r>
              <a:rPr lang="es-MX" sz="23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}</a:t>
            </a:r>
            <a:endParaRPr lang="es-MX" sz="23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3590CFF-FE14-0789-3239-E7001313931E}"/>
              </a:ext>
            </a:extLst>
          </p:cNvPr>
          <p:cNvSpPr txBox="1"/>
          <p:nvPr/>
        </p:nvSpPr>
        <p:spPr>
          <a:xfrm>
            <a:off x="4865270" y="810188"/>
            <a:ext cx="3740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Devuelve la información de un registro </a:t>
            </a:r>
          </a:p>
          <a:p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de historial por su id único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7611864-F6B4-3B1B-FBE5-2523CB963EA7}"/>
              </a:ext>
            </a:extLst>
          </p:cNvPr>
          <p:cNvSpPr txBox="1"/>
          <p:nvPr/>
        </p:nvSpPr>
        <p:spPr>
          <a:xfrm>
            <a:off x="4846350" y="1392966"/>
            <a:ext cx="25608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Mulish" panose="020B0604020202020204" charset="0"/>
              </a:rPr>
              <a:t>[</a:t>
            </a: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id_renta</a:t>
            </a:r>
            <a:r>
              <a:rPr lang="es-MX" sz="1200" dirty="0">
                <a:latin typeface="Mulish" panose="020B0604020202020204" charset="0"/>
              </a:rPr>
              <a:t>": 101,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fecha_inicio</a:t>
            </a:r>
            <a:r>
              <a:rPr lang="es-MX" sz="1200" dirty="0">
                <a:latin typeface="Mulish" panose="020B0604020202020204" charset="0"/>
              </a:rPr>
              <a:t>": "2023-04-01",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fecha_fin</a:t>
            </a:r>
            <a:r>
              <a:rPr lang="es-MX" sz="1200" dirty="0">
                <a:latin typeface="Mulish" panose="020B0604020202020204" charset="0"/>
              </a:rPr>
              <a:t>": “2024-04-23” ,</a:t>
            </a:r>
          </a:p>
          <a:p>
            <a:r>
              <a:rPr lang="es-MX" sz="1200" dirty="0">
                <a:latin typeface="Mulish" panose="020B0604020202020204" charset="0"/>
              </a:rPr>
              <a:t>    “precio”: 6,000</a:t>
            </a:r>
          </a:p>
          <a:p>
            <a:r>
              <a:rPr lang="es-MX" sz="1200" dirty="0">
                <a:latin typeface="Mulish" panose="020B0604020202020204" charset="0"/>
              </a:rPr>
              <a:t>},</a:t>
            </a: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id_renta</a:t>
            </a:r>
            <a:r>
              <a:rPr lang="es-MX" sz="1200" dirty="0">
                <a:latin typeface="Mulish" panose="020B0604020202020204" charset="0"/>
              </a:rPr>
              <a:t>": 101,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fecha_inicio</a:t>
            </a:r>
            <a:r>
              <a:rPr lang="es-MX" sz="1200" dirty="0">
                <a:latin typeface="Mulish" panose="020B0604020202020204" charset="0"/>
              </a:rPr>
              <a:t>": "2024-10-01",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fecha_fin</a:t>
            </a:r>
            <a:r>
              <a:rPr lang="es-MX" sz="1200" dirty="0">
                <a:latin typeface="Mulish" panose="020B0604020202020204" charset="0"/>
              </a:rPr>
              <a:t>": “2025-01-01” ,</a:t>
            </a:r>
          </a:p>
          <a:p>
            <a:r>
              <a:rPr lang="es-MX" sz="1200" dirty="0">
                <a:latin typeface="Mulish" panose="020B0604020202020204" charset="0"/>
              </a:rPr>
              <a:t>    “precio”: 8,000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  <a:p>
            <a:r>
              <a:rPr lang="es-MX" sz="1200" dirty="0">
                <a:latin typeface="Mulish" panose="020B0604020202020204" charset="0"/>
              </a:rPr>
              <a:t>]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3A00BF46-238C-4425-2DF9-7B33B7144FC7}"/>
              </a:ext>
            </a:extLst>
          </p:cNvPr>
          <p:cNvCxnSpPr>
            <a:endCxn id="2" idx="0"/>
          </p:cNvCxnSpPr>
          <p:nvPr/>
        </p:nvCxnSpPr>
        <p:spPr>
          <a:xfrm>
            <a:off x="4572000" y="501650"/>
            <a:ext cx="0" cy="4101225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7063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08776-1EEB-CE62-8E70-34025A809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9C81E7D-77C5-2890-13C6-13F2A3CD2E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15</a:t>
            </a:fld>
            <a:endParaRPr lang="es-MX"/>
          </a:p>
        </p:txBody>
      </p:sp>
      <p:sp>
        <p:nvSpPr>
          <p:cNvPr id="4" name="Título 2">
            <a:extLst>
              <a:ext uri="{FF2B5EF4-FFF2-40B4-BE49-F238E27FC236}">
                <a16:creationId xmlns:a16="http://schemas.microsoft.com/office/drawing/2014/main" id="{0F2D4621-5206-3044-A83F-5E3EAD8DE377}"/>
              </a:ext>
            </a:extLst>
          </p:cNvPr>
          <p:cNvSpPr txBox="1">
            <a:spLocks/>
          </p:cNvSpPr>
          <p:nvPr/>
        </p:nvSpPr>
        <p:spPr>
          <a:xfrm>
            <a:off x="404464" y="532999"/>
            <a:ext cx="4830797" cy="529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9. POST /historial/{</a:t>
            </a:r>
            <a:r>
              <a:rPr lang="es-MX" sz="2400" dirty="0" err="1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renta.id</a:t>
            </a:r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}</a:t>
            </a:r>
            <a:endParaRPr lang="es-MX" sz="2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A788B90-FA6F-03B1-43CA-5A142EBC82EC}"/>
              </a:ext>
            </a:extLst>
          </p:cNvPr>
          <p:cNvSpPr txBox="1"/>
          <p:nvPr/>
        </p:nvSpPr>
        <p:spPr>
          <a:xfrm>
            <a:off x="449542" y="1046123"/>
            <a:ext cx="3974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Agrega fechas en las que estuvo rentado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FC9F977-A2BB-B33F-9045-44A6A09B2FBE}"/>
              </a:ext>
            </a:extLst>
          </p:cNvPr>
          <p:cNvSpPr txBox="1"/>
          <p:nvPr/>
        </p:nvSpPr>
        <p:spPr>
          <a:xfrm>
            <a:off x="449541" y="1390080"/>
            <a:ext cx="3240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fecha_inicio</a:t>
            </a:r>
            <a:r>
              <a:rPr lang="es-MX" sz="1200" dirty="0">
                <a:latin typeface="Mulish" panose="020B0604020202020204" charset="0"/>
              </a:rPr>
              <a:t>": "2025-10-30“,</a:t>
            </a:r>
          </a:p>
          <a:p>
            <a:r>
              <a:rPr lang="es-MX" sz="1200" dirty="0">
                <a:latin typeface="Mulish" panose="020B0604020202020204" charset="0"/>
              </a:rPr>
              <a:t>  “</a:t>
            </a:r>
            <a:r>
              <a:rPr lang="es-MX" sz="1200" dirty="0" err="1">
                <a:latin typeface="Mulish" panose="020B0604020202020204" charset="0"/>
              </a:rPr>
              <a:t>fecha_fin</a:t>
            </a:r>
            <a:r>
              <a:rPr lang="es-MX" sz="1200" dirty="0">
                <a:latin typeface="Mulish" panose="020B0604020202020204" charset="0"/>
              </a:rPr>
              <a:t>”: 2030-10-30” ,</a:t>
            </a:r>
          </a:p>
          <a:p>
            <a:r>
              <a:rPr lang="es-MX" sz="1200" dirty="0">
                <a:latin typeface="Mulish" panose="020B0604020202020204" charset="0"/>
              </a:rPr>
              <a:t>    “precio”: 8,000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</p:txBody>
      </p:sp>
      <p:sp>
        <p:nvSpPr>
          <p:cNvPr id="12" name="Título 2">
            <a:extLst>
              <a:ext uri="{FF2B5EF4-FFF2-40B4-BE49-F238E27FC236}">
                <a16:creationId xmlns:a16="http://schemas.microsoft.com/office/drawing/2014/main" id="{A83824DB-3C8C-472B-2054-4BA9B6F35B5D}"/>
              </a:ext>
            </a:extLst>
          </p:cNvPr>
          <p:cNvSpPr txBox="1">
            <a:spLocks/>
          </p:cNvSpPr>
          <p:nvPr/>
        </p:nvSpPr>
        <p:spPr>
          <a:xfrm>
            <a:off x="404464" y="2405743"/>
            <a:ext cx="4830797" cy="529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 i="0" u="none" strike="noStrike" cap="non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10. PATCH /historial/{</a:t>
            </a:r>
            <a:r>
              <a:rPr lang="es-MX" sz="2400" dirty="0" err="1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renta.id</a:t>
            </a:r>
            <a:r>
              <a:rPr lang="es-MX" sz="2400" dirty="0">
                <a:solidFill>
                  <a:schemeClr val="accent1">
                    <a:lumMod val="75000"/>
                  </a:schemeClr>
                </a:solidFill>
                <a:latin typeface="Quicksand" panose="020B0604020202020204" charset="0"/>
              </a:rPr>
              <a:t>}</a:t>
            </a:r>
            <a:endParaRPr lang="es-MX" sz="24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377A34F-3E53-A755-6A3C-B838ABD3E92D}"/>
              </a:ext>
            </a:extLst>
          </p:cNvPr>
          <p:cNvSpPr txBox="1"/>
          <p:nvPr/>
        </p:nvSpPr>
        <p:spPr>
          <a:xfrm>
            <a:off x="404465" y="2935478"/>
            <a:ext cx="41675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tx2">
                    <a:lumMod val="50000"/>
                  </a:schemeClr>
                </a:solidFill>
                <a:latin typeface="Quicksand" panose="020B0604020202020204" charset="0"/>
              </a:rPr>
              <a:t>Modifica el historial de una renta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651463D-690B-1BB3-A102-2258EE61D150}"/>
              </a:ext>
            </a:extLst>
          </p:cNvPr>
          <p:cNvSpPr txBox="1"/>
          <p:nvPr/>
        </p:nvSpPr>
        <p:spPr>
          <a:xfrm>
            <a:off x="449540" y="3357491"/>
            <a:ext cx="31565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“</a:t>
            </a:r>
            <a:r>
              <a:rPr lang="es-MX" sz="1200" dirty="0" err="1">
                <a:latin typeface="Mulish" panose="020B0604020202020204" charset="0"/>
              </a:rPr>
              <a:t>historial.id</a:t>
            </a:r>
            <a:r>
              <a:rPr lang="es-MX" sz="1200" dirty="0">
                <a:latin typeface="Mulish" panose="020B0604020202020204" charset="0"/>
              </a:rPr>
              <a:t>” : 3,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fecha_fin</a:t>
            </a:r>
            <a:r>
              <a:rPr lang="es-MX" sz="1200" dirty="0">
                <a:latin typeface="Mulish" panose="020B0604020202020204" charset="0"/>
              </a:rPr>
              <a:t>": "2025-10-30"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  <a:p>
            <a:endParaRPr lang="es-MX" sz="1200" dirty="0">
              <a:latin typeface="Mulish" panose="020B060402020202020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07F79E8-39F0-DF01-61C0-B214C4ED3230}"/>
              </a:ext>
            </a:extLst>
          </p:cNvPr>
          <p:cNvSpPr txBox="1"/>
          <p:nvPr/>
        </p:nvSpPr>
        <p:spPr>
          <a:xfrm>
            <a:off x="4846350" y="598642"/>
            <a:ext cx="3760628" cy="1299269"/>
          </a:xfrm>
          <a:custGeom>
            <a:avLst/>
            <a:gdLst>
              <a:gd name="connsiteX0" fmla="*/ 0 w 3760628"/>
              <a:gd name="connsiteY0" fmla="*/ 0 h 1299269"/>
              <a:gd name="connsiteX1" fmla="*/ 513952 w 3760628"/>
              <a:gd name="connsiteY1" fmla="*/ 0 h 1299269"/>
              <a:gd name="connsiteX2" fmla="*/ 1215936 w 3760628"/>
              <a:gd name="connsiteY2" fmla="*/ 0 h 1299269"/>
              <a:gd name="connsiteX3" fmla="*/ 1805101 w 3760628"/>
              <a:gd name="connsiteY3" fmla="*/ 0 h 1299269"/>
              <a:gd name="connsiteX4" fmla="*/ 2394266 w 3760628"/>
              <a:gd name="connsiteY4" fmla="*/ 0 h 1299269"/>
              <a:gd name="connsiteX5" fmla="*/ 2983432 w 3760628"/>
              <a:gd name="connsiteY5" fmla="*/ 0 h 1299269"/>
              <a:gd name="connsiteX6" fmla="*/ 3760628 w 3760628"/>
              <a:gd name="connsiteY6" fmla="*/ 0 h 1299269"/>
              <a:gd name="connsiteX7" fmla="*/ 3760628 w 3760628"/>
              <a:gd name="connsiteY7" fmla="*/ 610656 h 1299269"/>
              <a:gd name="connsiteX8" fmla="*/ 3760628 w 3760628"/>
              <a:gd name="connsiteY8" fmla="*/ 1299269 h 1299269"/>
              <a:gd name="connsiteX9" fmla="*/ 3096250 w 3760628"/>
              <a:gd name="connsiteY9" fmla="*/ 1299269 h 1299269"/>
              <a:gd name="connsiteX10" fmla="*/ 2469479 w 3760628"/>
              <a:gd name="connsiteY10" fmla="*/ 1299269 h 1299269"/>
              <a:gd name="connsiteX11" fmla="*/ 1917920 w 3760628"/>
              <a:gd name="connsiteY11" fmla="*/ 1299269 h 1299269"/>
              <a:gd name="connsiteX12" fmla="*/ 1403968 w 3760628"/>
              <a:gd name="connsiteY12" fmla="*/ 1299269 h 1299269"/>
              <a:gd name="connsiteX13" fmla="*/ 701984 w 3760628"/>
              <a:gd name="connsiteY13" fmla="*/ 1299269 h 1299269"/>
              <a:gd name="connsiteX14" fmla="*/ 0 w 3760628"/>
              <a:gd name="connsiteY14" fmla="*/ 1299269 h 1299269"/>
              <a:gd name="connsiteX15" fmla="*/ 0 w 3760628"/>
              <a:gd name="connsiteY15" fmla="*/ 675620 h 1299269"/>
              <a:gd name="connsiteX16" fmla="*/ 0 w 3760628"/>
              <a:gd name="connsiteY16" fmla="*/ 0 h 1299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760628" h="1299269" extrusionOk="0">
                <a:moveTo>
                  <a:pt x="0" y="0"/>
                </a:moveTo>
                <a:cubicBezTo>
                  <a:pt x="157757" y="-2852"/>
                  <a:pt x="321768" y="-14403"/>
                  <a:pt x="513952" y="0"/>
                </a:cubicBezTo>
                <a:cubicBezTo>
                  <a:pt x="706136" y="14403"/>
                  <a:pt x="945626" y="-454"/>
                  <a:pt x="1215936" y="0"/>
                </a:cubicBezTo>
                <a:cubicBezTo>
                  <a:pt x="1486246" y="454"/>
                  <a:pt x="1591823" y="5333"/>
                  <a:pt x="1805101" y="0"/>
                </a:cubicBezTo>
                <a:cubicBezTo>
                  <a:pt x="2018380" y="-5333"/>
                  <a:pt x="2251869" y="28104"/>
                  <a:pt x="2394266" y="0"/>
                </a:cubicBezTo>
                <a:cubicBezTo>
                  <a:pt x="2536664" y="-28104"/>
                  <a:pt x="2699135" y="12436"/>
                  <a:pt x="2983432" y="0"/>
                </a:cubicBezTo>
                <a:cubicBezTo>
                  <a:pt x="3267729" y="-12436"/>
                  <a:pt x="3557206" y="30784"/>
                  <a:pt x="3760628" y="0"/>
                </a:cubicBezTo>
                <a:cubicBezTo>
                  <a:pt x="3739613" y="235361"/>
                  <a:pt x="3778120" y="392855"/>
                  <a:pt x="3760628" y="610656"/>
                </a:cubicBezTo>
                <a:cubicBezTo>
                  <a:pt x="3743136" y="828457"/>
                  <a:pt x="3776133" y="955464"/>
                  <a:pt x="3760628" y="1299269"/>
                </a:cubicBezTo>
                <a:cubicBezTo>
                  <a:pt x="3565402" y="1301002"/>
                  <a:pt x="3347841" y="1303634"/>
                  <a:pt x="3096250" y="1299269"/>
                </a:cubicBezTo>
                <a:cubicBezTo>
                  <a:pt x="2844659" y="1294904"/>
                  <a:pt x="2619653" y="1294554"/>
                  <a:pt x="2469479" y="1299269"/>
                </a:cubicBezTo>
                <a:cubicBezTo>
                  <a:pt x="2319305" y="1303984"/>
                  <a:pt x="2149515" y="1288281"/>
                  <a:pt x="1917920" y="1299269"/>
                </a:cubicBezTo>
                <a:cubicBezTo>
                  <a:pt x="1686325" y="1310257"/>
                  <a:pt x="1507066" y="1277314"/>
                  <a:pt x="1403968" y="1299269"/>
                </a:cubicBezTo>
                <a:cubicBezTo>
                  <a:pt x="1300870" y="1321224"/>
                  <a:pt x="982977" y="1308533"/>
                  <a:pt x="701984" y="1299269"/>
                </a:cubicBezTo>
                <a:cubicBezTo>
                  <a:pt x="420991" y="1290005"/>
                  <a:pt x="330715" y="1298040"/>
                  <a:pt x="0" y="1299269"/>
                </a:cubicBezTo>
                <a:cubicBezTo>
                  <a:pt x="-22" y="1059702"/>
                  <a:pt x="23990" y="940257"/>
                  <a:pt x="0" y="675620"/>
                </a:cubicBezTo>
                <a:cubicBezTo>
                  <a:pt x="-23990" y="410983"/>
                  <a:pt x="-6715" y="179276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18198807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>
                    <a:lumMod val="50000"/>
                  </a:schemeClr>
                </a:solidFill>
                <a:latin typeface="Mulish" panose="020B0604020202020204" charset="0"/>
              </a:rPr>
              <a:t>Respuestas</a:t>
            </a:r>
            <a:endParaRPr lang="es-MX" sz="1600" dirty="0">
              <a:solidFill>
                <a:schemeClr val="bg1">
                  <a:lumMod val="50000"/>
                </a:schemeClr>
              </a:solidFill>
              <a:latin typeface="Mulish" panose="020B0604020202020204" charset="0"/>
            </a:endParaRPr>
          </a:p>
          <a:p>
            <a:endParaRPr lang="es-MX" sz="1200" dirty="0">
              <a:latin typeface="Mulish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Mulish" panose="020B0604020202020204" charset="0"/>
              </a:rPr>
              <a:t>Exitosa (200 OK)</a:t>
            </a:r>
            <a:endParaRPr lang="es-MX" sz="1200" dirty="0">
              <a:latin typeface="Mulish" panose="020B0604020202020204" charset="0"/>
            </a:endParaRP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message</a:t>
            </a:r>
            <a:r>
              <a:rPr lang="es-MX" sz="1200" dirty="0">
                <a:latin typeface="Mulish" panose="020B0604020202020204" charset="0"/>
              </a:rPr>
              <a:t>": “Fechas agregadas exitosamente"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16FC2B1-FA20-E8A6-66FD-9B3E4918EAF3}"/>
              </a:ext>
            </a:extLst>
          </p:cNvPr>
          <p:cNvSpPr txBox="1"/>
          <p:nvPr/>
        </p:nvSpPr>
        <p:spPr>
          <a:xfrm>
            <a:off x="4989240" y="2544310"/>
            <a:ext cx="3760628" cy="2000548"/>
          </a:xfrm>
          <a:custGeom>
            <a:avLst/>
            <a:gdLst>
              <a:gd name="connsiteX0" fmla="*/ 0 w 3760628"/>
              <a:gd name="connsiteY0" fmla="*/ 0 h 2000548"/>
              <a:gd name="connsiteX1" fmla="*/ 513952 w 3760628"/>
              <a:gd name="connsiteY1" fmla="*/ 0 h 2000548"/>
              <a:gd name="connsiteX2" fmla="*/ 1215936 w 3760628"/>
              <a:gd name="connsiteY2" fmla="*/ 0 h 2000548"/>
              <a:gd name="connsiteX3" fmla="*/ 1805101 w 3760628"/>
              <a:gd name="connsiteY3" fmla="*/ 0 h 2000548"/>
              <a:gd name="connsiteX4" fmla="*/ 2394266 w 3760628"/>
              <a:gd name="connsiteY4" fmla="*/ 0 h 2000548"/>
              <a:gd name="connsiteX5" fmla="*/ 2983432 w 3760628"/>
              <a:gd name="connsiteY5" fmla="*/ 0 h 2000548"/>
              <a:gd name="connsiteX6" fmla="*/ 3760628 w 3760628"/>
              <a:gd name="connsiteY6" fmla="*/ 0 h 2000548"/>
              <a:gd name="connsiteX7" fmla="*/ 3760628 w 3760628"/>
              <a:gd name="connsiteY7" fmla="*/ 606833 h 2000548"/>
              <a:gd name="connsiteX8" fmla="*/ 3760628 w 3760628"/>
              <a:gd name="connsiteY8" fmla="*/ 1213666 h 2000548"/>
              <a:gd name="connsiteX9" fmla="*/ 3760628 w 3760628"/>
              <a:gd name="connsiteY9" fmla="*/ 2000548 h 2000548"/>
              <a:gd name="connsiteX10" fmla="*/ 3171463 w 3760628"/>
              <a:gd name="connsiteY10" fmla="*/ 2000548 h 2000548"/>
              <a:gd name="connsiteX11" fmla="*/ 2619904 w 3760628"/>
              <a:gd name="connsiteY11" fmla="*/ 2000548 h 2000548"/>
              <a:gd name="connsiteX12" fmla="*/ 2105952 w 3760628"/>
              <a:gd name="connsiteY12" fmla="*/ 2000548 h 2000548"/>
              <a:gd name="connsiteX13" fmla="*/ 1403968 w 3760628"/>
              <a:gd name="connsiteY13" fmla="*/ 2000548 h 2000548"/>
              <a:gd name="connsiteX14" fmla="*/ 852409 w 3760628"/>
              <a:gd name="connsiteY14" fmla="*/ 2000548 h 2000548"/>
              <a:gd name="connsiteX15" fmla="*/ 0 w 3760628"/>
              <a:gd name="connsiteY15" fmla="*/ 2000548 h 2000548"/>
              <a:gd name="connsiteX16" fmla="*/ 0 w 3760628"/>
              <a:gd name="connsiteY16" fmla="*/ 1353704 h 2000548"/>
              <a:gd name="connsiteX17" fmla="*/ 0 w 3760628"/>
              <a:gd name="connsiteY17" fmla="*/ 726866 h 2000548"/>
              <a:gd name="connsiteX18" fmla="*/ 0 w 3760628"/>
              <a:gd name="connsiteY18" fmla="*/ 0 h 2000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760628" h="2000548" extrusionOk="0">
                <a:moveTo>
                  <a:pt x="0" y="0"/>
                </a:moveTo>
                <a:cubicBezTo>
                  <a:pt x="157757" y="-2852"/>
                  <a:pt x="321768" y="-14403"/>
                  <a:pt x="513952" y="0"/>
                </a:cubicBezTo>
                <a:cubicBezTo>
                  <a:pt x="706136" y="14403"/>
                  <a:pt x="945626" y="-454"/>
                  <a:pt x="1215936" y="0"/>
                </a:cubicBezTo>
                <a:cubicBezTo>
                  <a:pt x="1486246" y="454"/>
                  <a:pt x="1591823" y="5333"/>
                  <a:pt x="1805101" y="0"/>
                </a:cubicBezTo>
                <a:cubicBezTo>
                  <a:pt x="2018380" y="-5333"/>
                  <a:pt x="2251869" y="28104"/>
                  <a:pt x="2394266" y="0"/>
                </a:cubicBezTo>
                <a:cubicBezTo>
                  <a:pt x="2536664" y="-28104"/>
                  <a:pt x="2699135" y="12436"/>
                  <a:pt x="2983432" y="0"/>
                </a:cubicBezTo>
                <a:cubicBezTo>
                  <a:pt x="3267729" y="-12436"/>
                  <a:pt x="3557206" y="30784"/>
                  <a:pt x="3760628" y="0"/>
                </a:cubicBezTo>
                <a:cubicBezTo>
                  <a:pt x="3789845" y="221473"/>
                  <a:pt x="3769574" y="435705"/>
                  <a:pt x="3760628" y="606833"/>
                </a:cubicBezTo>
                <a:cubicBezTo>
                  <a:pt x="3751682" y="777961"/>
                  <a:pt x="3761936" y="1030328"/>
                  <a:pt x="3760628" y="1213666"/>
                </a:cubicBezTo>
                <a:cubicBezTo>
                  <a:pt x="3759320" y="1397004"/>
                  <a:pt x="3763576" y="1797093"/>
                  <a:pt x="3760628" y="2000548"/>
                </a:cubicBezTo>
                <a:cubicBezTo>
                  <a:pt x="3563975" y="1988013"/>
                  <a:pt x="3319041" y="2010670"/>
                  <a:pt x="3171463" y="2000548"/>
                </a:cubicBezTo>
                <a:cubicBezTo>
                  <a:pt x="3023886" y="1990426"/>
                  <a:pt x="2851499" y="1989560"/>
                  <a:pt x="2619904" y="2000548"/>
                </a:cubicBezTo>
                <a:cubicBezTo>
                  <a:pt x="2388309" y="2011536"/>
                  <a:pt x="2209050" y="1978593"/>
                  <a:pt x="2105952" y="2000548"/>
                </a:cubicBezTo>
                <a:cubicBezTo>
                  <a:pt x="2002854" y="2022503"/>
                  <a:pt x="1684961" y="2009812"/>
                  <a:pt x="1403968" y="2000548"/>
                </a:cubicBezTo>
                <a:cubicBezTo>
                  <a:pt x="1122975" y="1991284"/>
                  <a:pt x="1126751" y="2012129"/>
                  <a:pt x="852409" y="2000548"/>
                </a:cubicBezTo>
                <a:cubicBezTo>
                  <a:pt x="578067" y="1988967"/>
                  <a:pt x="410087" y="1979819"/>
                  <a:pt x="0" y="2000548"/>
                </a:cubicBezTo>
                <a:cubicBezTo>
                  <a:pt x="-7010" y="1837680"/>
                  <a:pt x="26659" y="1534720"/>
                  <a:pt x="0" y="1353704"/>
                </a:cubicBezTo>
                <a:cubicBezTo>
                  <a:pt x="-26659" y="1172688"/>
                  <a:pt x="21111" y="1002945"/>
                  <a:pt x="0" y="726866"/>
                </a:cubicBezTo>
                <a:cubicBezTo>
                  <a:pt x="-21111" y="450787"/>
                  <a:pt x="28483" y="330833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18198807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>
                    <a:lumMod val="50000"/>
                  </a:schemeClr>
                </a:solidFill>
                <a:latin typeface="Mulish" panose="020B0604020202020204" charset="0"/>
              </a:rPr>
              <a:t>Respuestas</a:t>
            </a:r>
            <a:endParaRPr lang="es-MX" sz="1600" dirty="0">
              <a:solidFill>
                <a:schemeClr val="bg1">
                  <a:lumMod val="50000"/>
                </a:schemeClr>
              </a:solidFill>
              <a:latin typeface="Mulish" panose="020B0604020202020204" charset="0"/>
            </a:endParaRPr>
          </a:p>
          <a:p>
            <a:endParaRPr lang="es-MX" sz="1200" dirty="0">
              <a:latin typeface="Mulish" panose="020B060402020202020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Mulish" panose="020B0604020202020204" charset="0"/>
              </a:rPr>
              <a:t>Exitosa (200 OK)</a:t>
            </a:r>
            <a:endParaRPr lang="es-MX" sz="1200" dirty="0">
              <a:latin typeface="Mulish" panose="020B0604020202020204" charset="0"/>
            </a:endParaRP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message</a:t>
            </a:r>
            <a:r>
              <a:rPr lang="es-MX" sz="1200" dirty="0">
                <a:latin typeface="Mulish" panose="020B0604020202020204" charset="0"/>
              </a:rPr>
              <a:t>": “Fechas modificadas exitosamente"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b="1" dirty="0">
                <a:latin typeface="Mulish" panose="020B0604020202020204" charset="0"/>
              </a:rPr>
              <a:t>Si el </a:t>
            </a:r>
            <a:r>
              <a:rPr lang="es-MX" sz="1200" b="1" dirty="0" err="1">
                <a:latin typeface="Mulish" panose="020B0604020202020204" charset="0"/>
              </a:rPr>
              <a:t>historial.id</a:t>
            </a:r>
            <a:r>
              <a:rPr lang="es-MX" sz="1200" b="1" dirty="0">
                <a:latin typeface="Mulish" panose="020B0604020202020204" charset="0"/>
              </a:rPr>
              <a:t> no existe (404 </a:t>
            </a:r>
            <a:r>
              <a:rPr lang="es-MX" sz="1200" b="1" dirty="0" err="1">
                <a:latin typeface="Mulish" panose="020B0604020202020204" charset="0"/>
              </a:rPr>
              <a:t>Not</a:t>
            </a:r>
            <a:r>
              <a:rPr lang="es-MX" sz="1200" b="1" dirty="0">
                <a:latin typeface="Mulish" panose="020B0604020202020204" charset="0"/>
              </a:rPr>
              <a:t> </a:t>
            </a:r>
            <a:r>
              <a:rPr lang="es-MX" sz="1200" b="1" dirty="0" err="1">
                <a:latin typeface="Mulish" panose="020B0604020202020204" charset="0"/>
              </a:rPr>
              <a:t>Found</a:t>
            </a:r>
            <a:r>
              <a:rPr lang="es-MX" sz="1200" b="1" dirty="0">
                <a:latin typeface="Mulish" panose="020B0604020202020204" charset="0"/>
              </a:rPr>
              <a:t>)</a:t>
            </a:r>
          </a:p>
          <a:p>
            <a:r>
              <a:rPr lang="es-MX" sz="1200" dirty="0">
                <a:latin typeface="Mulish" panose="020B0604020202020204" charset="0"/>
              </a:rPr>
              <a:t>{</a:t>
            </a:r>
          </a:p>
          <a:p>
            <a:r>
              <a:rPr lang="es-MX" sz="1200" dirty="0">
                <a:latin typeface="Mulish" panose="020B0604020202020204" charset="0"/>
              </a:rPr>
              <a:t>  "</a:t>
            </a:r>
            <a:r>
              <a:rPr lang="es-MX" sz="1200" dirty="0" err="1">
                <a:latin typeface="Mulish" panose="020B0604020202020204" charset="0"/>
              </a:rPr>
              <a:t>message</a:t>
            </a:r>
            <a:r>
              <a:rPr lang="es-MX" sz="1200" dirty="0">
                <a:latin typeface="Mulish" panose="020B0604020202020204" charset="0"/>
              </a:rPr>
              <a:t>": “Registro de historial no encontrado"</a:t>
            </a:r>
          </a:p>
          <a:p>
            <a:r>
              <a:rPr lang="es-MX" sz="1200" dirty="0">
                <a:latin typeface="Mulish" panose="020B060402020202020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5290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>
          <a:extLst>
            <a:ext uri="{FF2B5EF4-FFF2-40B4-BE49-F238E27FC236}">
              <a16:creationId xmlns:a16="http://schemas.microsoft.com/office/drawing/2014/main" id="{C20B756B-7B55-4B21-4E82-1C7DDE673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2">
            <a:extLst>
              <a:ext uri="{FF2B5EF4-FFF2-40B4-BE49-F238E27FC236}">
                <a16:creationId xmlns:a16="http://schemas.microsoft.com/office/drawing/2014/main" id="{3DA6A37F-88F0-AAA0-8098-6B7A69127B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Reglas de acceso</a:t>
            </a:r>
            <a:endParaRPr sz="3600" dirty="0"/>
          </a:p>
        </p:txBody>
      </p:sp>
      <p:sp>
        <p:nvSpPr>
          <p:cNvPr id="331" name="Google Shape;331;p32">
            <a:extLst>
              <a:ext uri="{FF2B5EF4-FFF2-40B4-BE49-F238E27FC236}">
                <a16:creationId xmlns:a16="http://schemas.microsoft.com/office/drawing/2014/main" id="{3DE16533-34BE-8F26-D647-7C713654FCB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332" name="Google Shape;332;p32">
            <a:extLst>
              <a:ext uri="{FF2B5EF4-FFF2-40B4-BE49-F238E27FC236}">
                <a16:creationId xmlns:a16="http://schemas.microsoft.com/office/drawing/2014/main" id="{6FA59987-E389-ABDA-CEB0-2735C09766B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cxnSp>
        <p:nvCxnSpPr>
          <p:cNvPr id="333" name="Google Shape;333;p32">
            <a:extLst>
              <a:ext uri="{FF2B5EF4-FFF2-40B4-BE49-F238E27FC236}">
                <a16:creationId xmlns:a16="http://schemas.microsoft.com/office/drawing/2014/main" id="{A893949D-2C8D-F9B0-79C6-2DA622757A8D}"/>
              </a:ext>
            </a:extLst>
          </p:cNvPr>
          <p:cNvCxnSpPr/>
          <p:nvPr/>
        </p:nvCxnSpPr>
        <p:spPr>
          <a:xfrm rot="10800000" flipH="1">
            <a:off x="1600600" y="2910566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4" name="Google Shape;334;p32">
            <a:extLst>
              <a:ext uri="{FF2B5EF4-FFF2-40B4-BE49-F238E27FC236}">
                <a16:creationId xmlns:a16="http://schemas.microsoft.com/office/drawing/2014/main" id="{079F684A-F0C5-8B28-A135-05ECFE6366AA}"/>
              </a:ext>
            </a:extLst>
          </p:cNvPr>
          <p:cNvCxnSpPr/>
          <p:nvPr/>
        </p:nvCxnSpPr>
        <p:spPr>
          <a:xfrm rot="10800000" flipH="1">
            <a:off x="1600600" y="1714341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5" name="Google Shape;335;p32">
            <a:extLst>
              <a:ext uri="{FF2B5EF4-FFF2-40B4-BE49-F238E27FC236}">
                <a16:creationId xmlns:a16="http://schemas.microsoft.com/office/drawing/2014/main" id="{CD92834F-1C6C-2BB6-FE71-07DA716882E3}"/>
              </a:ext>
            </a:extLst>
          </p:cNvPr>
          <p:cNvSpPr/>
          <p:nvPr/>
        </p:nvSpPr>
        <p:spPr>
          <a:xfrm>
            <a:off x="32448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32">
            <a:extLst>
              <a:ext uri="{FF2B5EF4-FFF2-40B4-BE49-F238E27FC236}">
                <a16:creationId xmlns:a16="http://schemas.microsoft.com/office/drawing/2014/main" id="{1AA8EF70-03F9-61BF-9447-B0783874EACA}"/>
              </a:ext>
            </a:extLst>
          </p:cNvPr>
          <p:cNvSpPr/>
          <p:nvPr/>
        </p:nvSpPr>
        <p:spPr>
          <a:xfrm>
            <a:off x="7280500" y="22179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0398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8EA177F-3100-3C43-9B9E-EFB34B6D38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mtClean="0"/>
              <a:t>17</a:t>
            </a:fld>
            <a:endParaRPr lang="es-MX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57B654B8-452A-538C-F069-B58EE747E2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609587"/>
              </p:ext>
            </p:extLst>
          </p:nvPr>
        </p:nvGraphicFramePr>
        <p:xfrm>
          <a:off x="975300" y="449531"/>
          <a:ext cx="6978650" cy="4325014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57974">
                  <a:extLst>
                    <a:ext uri="{9D8B030D-6E8A-4147-A177-3AD203B41FA5}">
                      <a16:colId xmlns:a16="http://schemas.microsoft.com/office/drawing/2014/main" val="3524015977"/>
                    </a:ext>
                  </a:extLst>
                </a:gridCol>
                <a:gridCol w="4194459">
                  <a:extLst>
                    <a:ext uri="{9D8B030D-6E8A-4147-A177-3AD203B41FA5}">
                      <a16:colId xmlns:a16="http://schemas.microsoft.com/office/drawing/2014/main" val="1684620655"/>
                    </a:ext>
                  </a:extLst>
                </a:gridCol>
                <a:gridCol w="2326217">
                  <a:extLst>
                    <a:ext uri="{9D8B030D-6E8A-4147-A177-3AD203B41FA5}">
                      <a16:colId xmlns:a16="http://schemas.microsoft.com/office/drawing/2014/main" val="2570408298"/>
                    </a:ext>
                  </a:extLst>
                </a:gridCol>
              </a:tblGrid>
              <a:tr h="300809">
                <a:tc>
                  <a:txBody>
                    <a:bodyPr/>
                    <a:lstStyle/>
                    <a:p>
                      <a:endParaRPr lang="es-MX" sz="1600" b="1" dirty="0"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b="1" dirty="0" err="1">
                          <a:latin typeface="Quicksand" panose="020B0604020202020204" charset="0"/>
                        </a:rPr>
                        <a:t>Endpoint</a:t>
                      </a:r>
                      <a:endParaRPr lang="es-MX" sz="1400" b="1" dirty="0"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b="1" dirty="0">
                          <a:latin typeface="Quicksand" panose="020B0604020202020204" charset="0"/>
                        </a:rPr>
                        <a:t>Acceso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1242799"/>
                  </a:ext>
                </a:extLst>
              </a:tr>
              <a:tr h="300809"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GET/ rentas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Público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76289"/>
                  </a:ext>
                </a:extLst>
              </a:tr>
              <a:tr h="300809"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GET /rentas/{id}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Público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7152866"/>
                  </a:ext>
                </a:extLst>
              </a:tr>
              <a:tr h="420309"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POST /rentas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Solo usuarios tipo arrendatario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661175"/>
                  </a:ext>
                </a:extLst>
              </a:tr>
              <a:tr h="420309"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PATCH /rentas/{id}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Solo usuarios tipo arrendatario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433233"/>
                  </a:ext>
                </a:extLst>
              </a:tr>
              <a:tr h="420309"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POST /arrendatarios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 err="1">
                          <a:latin typeface="Quicksand" panose="020B0604020202020204" charset="0"/>
                        </a:rPr>
                        <a:t>Superadmin</a:t>
                      </a:r>
                      <a:endParaRPr lang="es-MX" sz="1100" b="1" dirty="0">
                        <a:latin typeface="Quicksan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7946498"/>
                  </a:ext>
                </a:extLst>
              </a:tr>
              <a:tr h="420309"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PATCH /arrendatarios/{id}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 err="1">
                          <a:latin typeface="Quicksand" panose="020B0604020202020204" charset="0"/>
                        </a:rPr>
                        <a:t>Superadmin</a:t>
                      </a:r>
                      <a:endParaRPr lang="es-MX" sz="1100" b="1" dirty="0">
                        <a:latin typeface="Quicksan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499709"/>
                  </a:ext>
                </a:extLst>
              </a:tr>
              <a:tr h="420309"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100" b="1" dirty="0">
                          <a:latin typeface="Quicksand" panose="020B0604020202020204" charset="0"/>
                        </a:rPr>
                        <a:t>GET /historial</a:t>
                      </a:r>
                    </a:p>
                    <a:p>
                      <a:endParaRPr lang="es-MX" sz="1100" b="1" dirty="0"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Público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19028"/>
                  </a:ext>
                </a:extLst>
              </a:tr>
              <a:tr h="420309"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100" b="1" dirty="0">
                          <a:latin typeface="Quicksand" panose="020B0604020202020204" charset="0"/>
                        </a:rPr>
                        <a:t>GET /historial/{</a:t>
                      </a:r>
                      <a:r>
                        <a:rPr lang="es-MX" sz="1100" b="1" dirty="0" err="1">
                          <a:latin typeface="Quicksand" panose="020B0604020202020204" charset="0"/>
                        </a:rPr>
                        <a:t>renta.id</a:t>
                      </a:r>
                      <a:r>
                        <a:rPr lang="es-MX" sz="1100" b="1" dirty="0">
                          <a:latin typeface="Quicksand" panose="020B0604020202020204" charset="0"/>
                        </a:rPr>
                        <a:t>}</a:t>
                      </a:r>
                    </a:p>
                    <a:p>
                      <a:endParaRPr lang="es-MX" sz="1100" b="1" dirty="0"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100" b="1" dirty="0">
                          <a:latin typeface="Quicksand" panose="020B0604020202020204" charset="0"/>
                        </a:rPr>
                        <a:t>Público</a:t>
                      </a:r>
                    </a:p>
                    <a:p>
                      <a:endParaRPr lang="es-MX" sz="1100" b="1" dirty="0">
                        <a:latin typeface="Quicksan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952480"/>
                  </a:ext>
                </a:extLst>
              </a:tr>
              <a:tr h="420309"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100" b="1" dirty="0">
                          <a:latin typeface="Quicksand" panose="020B0604020202020204" charset="0"/>
                        </a:rPr>
                        <a:t>POST /historial</a:t>
                      </a:r>
                    </a:p>
                    <a:p>
                      <a:endParaRPr lang="es-MX" sz="1100" b="1" dirty="0"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Solo usuarios tipo arrendatario</a:t>
                      </a:r>
                    </a:p>
                    <a:p>
                      <a:endParaRPr lang="es-MX" sz="1100" b="1" dirty="0">
                        <a:latin typeface="Quicksan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468044"/>
                  </a:ext>
                </a:extLst>
              </a:tr>
              <a:tr h="420309">
                <a:tc>
                  <a:txBody>
                    <a:bodyPr/>
                    <a:lstStyle/>
                    <a:p>
                      <a:r>
                        <a:rPr lang="es-MX" sz="1100" b="1" dirty="0">
                          <a:latin typeface="Quicksand" panose="020B0604020202020204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100" b="1" dirty="0">
                          <a:latin typeface="Quicksand" panose="020B0604020202020204" charset="0"/>
                        </a:rPr>
                        <a:t>PATCH /historial/{</a:t>
                      </a:r>
                      <a:r>
                        <a:rPr lang="es-MX" sz="1100" b="1" dirty="0" err="1">
                          <a:latin typeface="Quicksand" panose="020B0604020202020204" charset="0"/>
                        </a:rPr>
                        <a:t>renta.id</a:t>
                      </a:r>
                      <a:r>
                        <a:rPr lang="es-MX" sz="1100" b="1" dirty="0">
                          <a:latin typeface="Quicksand" panose="020B0604020202020204" charset="0"/>
                        </a:rPr>
                        <a:t>}</a:t>
                      </a:r>
                    </a:p>
                    <a:p>
                      <a:endParaRPr lang="es-MX" sz="1100" b="1" dirty="0">
                        <a:latin typeface="Quicksand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MX" sz="1100" b="1" dirty="0" err="1">
                          <a:latin typeface="Quicksand" panose="020B0604020202020204" charset="0"/>
                        </a:rPr>
                        <a:t>Superadmin</a:t>
                      </a:r>
                      <a:endParaRPr lang="es-MX" sz="1100" b="1" dirty="0">
                        <a:latin typeface="Quicksand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544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168544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3238</TotalTime>
  <Words>1471</Words>
  <Application>Microsoft Office PowerPoint</Application>
  <PresentationFormat>Presentación en pantalla (16:9)</PresentationFormat>
  <Paragraphs>307</Paragraphs>
  <Slides>17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Quicksand</vt:lpstr>
      <vt:lpstr>Bebas Neue</vt:lpstr>
      <vt:lpstr>Arial</vt:lpstr>
      <vt:lpstr>Mulish</vt:lpstr>
      <vt:lpstr>Elegant Bachelor Thesis by Slidesgo</vt:lpstr>
      <vt:lpstr>API  Rentas Ensenada</vt:lpstr>
      <vt:lpstr>Recursos y endpoints</vt:lpstr>
      <vt:lpstr>arrendatarios</vt:lpstr>
      <vt:lpstr>rentas</vt:lpstr>
      <vt:lpstr>historial</vt:lpstr>
      <vt:lpstr>rentas</vt:lpstr>
      <vt:lpstr>Base de datos</vt:lpstr>
      <vt:lpstr>Formato de los datos</vt:lpstr>
      <vt:lpstr>1. GET/rentas</vt:lpstr>
      <vt:lpstr>2. GET/rentas/{id} </vt:lpstr>
      <vt:lpstr>3. POST/rentas/{id} </vt:lpstr>
      <vt:lpstr>4. PATCH/rentas/{id} </vt:lpstr>
      <vt:lpstr>5. POST /arrendatarios</vt:lpstr>
      <vt:lpstr>7. GET /historial</vt:lpstr>
      <vt:lpstr>Presentación de PowerPoint</vt:lpstr>
      <vt:lpstr>Reglas de acceso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Jazmín Jones</cp:lastModifiedBy>
  <cp:revision>22</cp:revision>
  <dcterms:modified xsi:type="dcterms:W3CDTF">2025-10-29T05:29:22Z</dcterms:modified>
</cp:coreProperties>
</file>